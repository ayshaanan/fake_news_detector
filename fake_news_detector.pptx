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7" r:id="rId7"/>
    <p:sldId id="262" r:id="rId8"/>
    <p:sldId id="263" r:id="rId9"/>
    <p:sldId id="265" r:id="rId10"/>
    <p:sldId id="278" r:id="rId11"/>
    <p:sldId id="266" r:id="rId12"/>
    <p:sldId id="267" r:id="rId13"/>
    <p:sldId id="264" r:id="rId14"/>
    <p:sldId id="269" r:id="rId15"/>
    <p:sldId id="270" r:id="rId16"/>
    <p:sldId id="279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1260" y="32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Proposed system(%)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tint val="77000"/>
                    <a:shade val="51000"/>
                    <a:satMod val="130000"/>
                  </a:schemeClr>
                </a:gs>
                <a:gs pos="80000">
                  <a:schemeClr val="accent6">
                    <a:tint val="77000"/>
                    <a:shade val="93000"/>
                    <a:satMod val="130000"/>
                  </a:schemeClr>
                </a:gs>
                <a:gs pos="100000">
                  <a:schemeClr val="accent6">
                    <a:tint val="77000"/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Delay</c:v>
                </c:pt>
                <c:pt idx="2">
                  <c:v>Emotional Analysis</c:v>
                </c:pt>
                <c:pt idx="3">
                  <c:v>Empathy Rate</c:v>
                </c:pt>
                <c:pt idx="4">
                  <c:v>Security level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</c:v>
                </c:pt>
                <c:pt idx="1">
                  <c:v>20</c:v>
                </c:pt>
                <c:pt idx="2">
                  <c:v>85</c:v>
                </c:pt>
                <c:pt idx="3">
                  <c:v>70</c:v>
                </c:pt>
                <c:pt idx="4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64-4FAB-B16D-1A0454EE348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Existing system(%)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shade val="76000"/>
                    <a:shade val="51000"/>
                    <a:satMod val="130000"/>
                  </a:schemeClr>
                </a:gs>
                <a:gs pos="80000">
                  <a:schemeClr val="accent6">
                    <a:shade val="76000"/>
                    <a:shade val="93000"/>
                    <a:satMod val="130000"/>
                  </a:schemeClr>
                </a:gs>
                <a:gs pos="100000">
                  <a:schemeClr val="accent6">
                    <a:shade val="76000"/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Delay</c:v>
                </c:pt>
                <c:pt idx="2">
                  <c:v>Emotional Analysis</c:v>
                </c:pt>
                <c:pt idx="3">
                  <c:v>Empathy Rate</c:v>
                </c:pt>
                <c:pt idx="4">
                  <c:v>Security level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75</c:v>
                </c:pt>
                <c:pt idx="1">
                  <c:v>40</c:v>
                </c:pt>
                <c:pt idx="2">
                  <c:v>78</c:v>
                </c:pt>
                <c:pt idx="3">
                  <c:v>65</c:v>
                </c:pt>
                <c:pt idx="4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E64-4FAB-B16D-1A0454EE348E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419689184"/>
        <c:axId val="1419687744"/>
      </c:barChart>
      <c:catAx>
        <c:axId val="14196891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419687744"/>
        <c:crosses val="autoZero"/>
        <c:auto val="1"/>
        <c:lblAlgn val="ctr"/>
        <c:lblOffset val="100"/>
        <c:noMultiLvlLbl val="0"/>
      </c:catAx>
      <c:valAx>
        <c:axId val="14196877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4196891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7575" y="457580"/>
            <a:ext cx="10356850" cy="449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4875" y="1104836"/>
            <a:ext cx="10382250" cy="3030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347388083_Empathic_Chatbot_Emotional_Intelligence_for_Mental_Health_Well-being" TargetMode="External"/><Relationship Id="rId2" Type="http://schemas.openxmlformats.org/officeDocument/2006/relationships/hyperlink" Target="https://ieeexplore.ieee.org/document/9456326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researchgate.net/publication/353770913_Chatbot_for_Mental_Well-be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35020" y="480313"/>
            <a:ext cx="7580630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u="none" dirty="0"/>
              <a:t>SCMS</a:t>
            </a:r>
            <a:r>
              <a:rPr sz="3200" u="none" spc="-85" dirty="0"/>
              <a:t> </a:t>
            </a:r>
            <a:r>
              <a:rPr sz="3200" u="none" dirty="0"/>
              <a:t>School</a:t>
            </a:r>
            <a:r>
              <a:rPr sz="3200" u="none" spc="-10" dirty="0"/>
              <a:t> </a:t>
            </a:r>
            <a:r>
              <a:rPr sz="3200" u="none" dirty="0"/>
              <a:t>of</a:t>
            </a:r>
            <a:r>
              <a:rPr sz="3200" u="none" spc="-35" dirty="0"/>
              <a:t> </a:t>
            </a:r>
            <a:r>
              <a:rPr sz="3200" u="none" dirty="0"/>
              <a:t>Engineering</a:t>
            </a:r>
            <a:r>
              <a:rPr sz="3200" u="none" spc="-50" dirty="0"/>
              <a:t> </a:t>
            </a:r>
            <a:r>
              <a:rPr sz="3200" u="none" dirty="0"/>
              <a:t>&amp;</a:t>
            </a:r>
            <a:r>
              <a:rPr sz="3200" u="none" spc="-70" dirty="0"/>
              <a:t> </a:t>
            </a:r>
            <a:r>
              <a:rPr sz="3200" u="none" spc="-10" dirty="0"/>
              <a:t>Technology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3343275" y="1071499"/>
            <a:ext cx="6626859" cy="10896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dirty="0">
                <a:latin typeface="Times New Roman"/>
                <a:cs typeface="Times New Roman"/>
              </a:rPr>
              <a:t>Department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Computer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Science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Engineering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1446530">
              <a:lnSpc>
                <a:spcPct val="100000"/>
              </a:lnSpc>
            </a:pPr>
            <a:r>
              <a:rPr sz="20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FAKE</a:t>
            </a:r>
            <a:r>
              <a:rPr sz="2000" b="1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NEWS</a:t>
            </a:r>
            <a:r>
              <a:rPr sz="2000" b="1" u="sng" spc="-11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DETECTOR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5159" y="2598419"/>
            <a:ext cx="267779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b="1" dirty="0">
                <a:latin typeface="Times New Roman"/>
                <a:cs typeface="Times New Roman"/>
              </a:rPr>
              <a:t>PROJECT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MEMBERS: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5159" y="2907728"/>
            <a:ext cx="1938655" cy="16281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1400"/>
              </a:lnSpc>
              <a:spcBef>
                <a:spcPts val="95"/>
              </a:spcBef>
            </a:pPr>
            <a:r>
              <a:rPr sz="2000" dirty="0">
                <a:latin typeface="Times New Roman"/>
                <a:cs typeface="Times New Roman"/>
              </a:rPr>
              <a:t>Arya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Abhoy</a:t>
            </a:r>
            <a:r>
              <a:rPr sz="2000" spc="500" dirty="0">
                <a:latin typeface="Times New Roman"/>
                <a:cs typeface="Times New Roman"/>
              </a:rPr>
              <a:t> </a:t>
            </a:r>
            <a:r>
              <a:rPr sz="2000" spc="-45" dirty="0">
                <a:latin typeface="Times New Roman"/>
                <a:cs typeface="Times New Roman"/>
              </a:rPr>
              <a:t>Aysha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Anan </a:t>
            </a:r>
            <a:r>
              <a:rPr sz="2000" dirty="0">
                <a:latin typeface="Times New Roman"/>
                <a:cs typeface="Times New Roman"/>
              </a:rPr>
              <a:t>Gayatri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Menon </a:t>
            </a:r>
            <a:r>
              <a:rPr sz="2000" dirty="0">
                <a:latin typeface="Times New Roman"/>
                <a:cs typeface="Times New Roman"/>
              </a:rPr>
              <a:t>Hana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Shireen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A.A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20785" y="2907728"/>
            <a:ext cx="1550035" cy="16281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9050" algn="just">
              <a:lnSpc>
                <a:spcPct val="131400"/>
              </a:lnSpc>
              <a:spcBef>
                <a:spcPts val="95"/>
              </a:spcBef>
            </a:pPr>
            <a:r>
              <a:rPr sz="2000" spc="-10" dirty="0">
                <a:latin typeface="Times New Roman"/>
                <a:cs typeface="Times New Roman"/>
              </a:rPr>
              <a:t>SCM23CS075 SCM23CS084 SCM23CS112 SCM23CS116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38150"/>
            <a:ext cx="1409700" cy="12192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364604" y="2498915"/>
            <a:ext cx="5170805" cy="231521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000" b="1" dirty="0">
                <a:latin typeface="Times New Roman"/>
                <a:cs typeface="Times New Roman"/>
              </a:rPr>
              <a:t>PROJECT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GUIDE:</a:t>
            </a:r>
            <a:endParaRPr sz="2000" dirty="0">
              <a:latin typeface="Times New Roman"/>
              <a:cs typeface="Times New Roman"/>
            </a:endParaRPr>
          </a:p>
          <a:p>
            <a:pPr marL="12700" marR="3194685">
              <a:lnSpc>
                <a:spcPct val="150200"/>
              </a:lnSpc>
            </a:pPr>
            <a:r>
              <a:rPr sz="2000" spc="-20" dirty="0">
                <a:latin typeface="Times New Roman"/>
                <a:cs typeface="Times New Roman"/>
              </a:rPr>
              <a:t>Mr.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Safeer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S </a:t>
            </a:r>
            <a:r>
              <a:rPr sz="2000" dirty="0">
                <a:latin typeface="Times New Roman"/>
                <a:cs typeface="Times New Roman"/>
              </a:rPr>
              <a:t>Assistant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Professor</a:t>
            </a:r>
            <a:endParaRPr sz="2000" dirty="0">
              <a:latin typeface="Times New Roman"/>
              <a:cs typeface="Times New Roman"/>
            </a:endParaRPr>
          </a:p>
          <a:p>
            <a:pPr marL="12700" marR="5080">
              <a:lnSpc>
                <a:spcPct val="150200"/>
              </a:lnSpc>
            </a:pPr>
            <a:r>
              <a:rPr sz="2000" dirty="0">
                <a:latin typeface="Times New Roman"/>
                <a:cs typeface="Times New Roman"/>
              </a:rPr>
              <a:t>Department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Computer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Science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Engineering </a:t>
            </a:r>
            <a:r>
              <a:rPr sz="2000" dirty="0">
                <a:latin typeface="Times New Roman"/>
                <a:cs typeface="Times New Roman"/>
              </a:rPr>
              <a:t>SCMS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School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Engineering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&amp;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Technology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spc="-10" dirty="0"/>
              <a:t>CONTENTS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8352" y="1300162"/>
            <a:ext cx="1821814" cy="4418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25"/>
              </a:spcBef>
              <a:buFont typeface="Wingdings"/>
              <a:buChar char=""/>
              <a:tabLst>
                <a:tab pos="241300" algn="l"/>
              </a:tabLst>
            </a:pPr>
            <a:r>
              <a:rPr sz="1700" spc="-10" dirty="0">
                <a:latin typeface="Times New Roman"/>
                <a:cs typeface="Times New Roman"/>
              </a:rPr>
              <a:t>Introduction</a:t>
            </a:r>
            <a:endParaRPr sz="17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Font typeface="Wingdings"/>
              <a:buChar char=""/>
            </a:pPr>
            <a:endParaRPr sz="17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Wingdings"/>
              <a:buChar char=""/>
              <a:tabLst>
                <a:tab pos="241300" algn="l"/>
              </a:tabLst>
            </a:pPr>
            <a:r>
              <a:rPr sz="1700" spc="-10" dirty="0">
                <a:latin typeface="Times New Roman"/>
                <a:cs typeface="Times New Roman"/>
              </a:rPr>
              <a:t>Objectives</a:t>
            </a:r>
            <a:endParaRPr sz="17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Wingdings"/>
              <a:buChar char=""/>
            </a:pPr>
            <a:endParaRPr sz="17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Wingdings"/>
              <a:buChar char=""/>
              <a:tabLst>
                <a:tab pos="241300" algn="l"/>
              </a:tabLst>
            </a:pPr>
            <a:r>
              <a:rPr sz="1700" dirty="0">
                <a:latin typeface="Times New Roman"/>
                <a:cs typeface="Times New Roman"/>
              </a:rPr>
              <a:t>Literature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Review</a:t>
            </a:r>
            <a:endParaRPr sz="17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Wingdings"/>
              <a:buChar char=""/>
            </a:pPr>
            <a:endParaRPr sz="17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Wingdings"/>
              <a:buChar char=""/>
              <a:tabLst>
                <a:tab pos="241300" algn="l"/>
              </a:tabLst>
            </a:pPr>
            <a:r>
              <a:rPr sz="1700" dirty="0">
                <a:latin typeface="Times New Roman"/>
                <a:cs typeface="Times New Roman"/>
              </a:rPr>
              <a:t>Existing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System</a:t>
            </a:r>
            <a:endParaRPr sz="17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Wingdings"/>
              <a:buChar char=""/>
            </a:pPr>
            <a:endParaRPr sz="17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Wingdings"/>
              <a:buChar char=""/>
              <a:tabLst>
                <a:tab pos="241300" algn="l"/>
              </a:tabLst>
            </a:pPr>
            <a:r>
              <a:rPr sz="1700" dirty="0">
                <a:latin typeface="Times New Roman"/>
                <a:cs typeface="Times New Roman"/>
              </a:rPr>
              <a:t>Proposed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System</a:t>
            </a:r>
            <a:endParaRPr sz="17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Wingdings"/>
              <a:buChar char=""/>
            </a:pPr>
            <a:endParaRPr sz="17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Wingdings"/>
              <a:buChar char=""/>
              <a:tabLst>
                <a:tab pos="241300" algn="l"/>
              </a:tabLst>
            </a:pPr>
            <a:r>
              <a:rPr sz="1700" spc="-10" dirty="0">
                <a:latin typeface="Times New Roman"/>
                <a:cs typeface="Times New Roman"/>
              </a:rPr>
              <a:t>Implementation</a:t>
            </a:r>
            <a:endParaRPr sz="17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Wingdings"/>
              <a:buChar char=""/>
            </a:pPr>
            <a:endParaRPr sz="17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Wingdings"/>
              <a:buChar char=""/>
              <a:tabLst>
                <a:tab pos="241300" algn="l"/>
              </a:tabLst>
            </a:pPr>
            <a:r>
              <a:rPr sz="1700" spc="-10" dirty="0">
                <a:latin typeface="Times New Roman"/>
                <a:cs typeface="Times New Roman"/>
              </a:rPr>
              <a:t>Modules</a:t>
            </a:r>
            <a:endParaRPr sz="17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"/>
              </a:spcBef>
              <a:buFont typeface="Wingdings"/>
              <a:buChar char=""/>
            </a:pPr>
            <a:endParaRPr sz="17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Wingdings"/>
              <a:buChar char=""/>
              <a:tabLst>
                <a:tab pos="241300" algn="l"/>
              </a:tabLst>
            </a:pPr>
            <a:r>
              <a:rPr sz="1700" spc="-10" dirty="0">
                <a:latin typeface="Times New Roman"/>
                <a:cs typeface="Times New Roman"/>
              </a:rPr>
              <a:t>Conclusion</a:t>
            </a:r>
            <a:endParaRPr sz="17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Wingdings"/>
              <a:buChar char=""/>
            </a:pPr>
            <a:endParaRPr sz="17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Wingdings"/>
              <a:buChar char=""/>
              <a:tabLst>
                <a:tab pos="241300" algn="l"/>
              </a:tabLst>
            </a:pPr>
            <a:r>
              <a:rPr sz="1700" spc="-10" dirty="0">
                <a:latin typeface="Times New Roman"/>
                <a:cs typeface="Times New Roman"/>
              </a:rPr>
              <a:t>References</a:t>
            </a:r>
            <a:endParaRPr sz="17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800"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051750"/>
            <a:ext cx="10363835" cy="369889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9235">
              <a:lnSpc>
                <a:spcPct val="1555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b="1" dirty="0">
                <a:latin typeface="Times New Roman"/>
                <a:cs typeface="Times New Roman"/>
              </a:rPr>
              <a:t>Overview:</a:t>
            </a:r>
            <a:r>
              <a:rPr sz="2000" b="1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Fake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news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false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misleading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information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presented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real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news,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spread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rapidly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through </a:t>
            </a:r>
            <a:r>
              <a:rPr sz="2000" dirty="0">
                <a:latin typeface="Times New Roman"/>
                <a:cs typeface="Times New Roman"/>
              </a:rPr>
              <a:t>social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media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platforms.</a:t>
            </a:r>
            <a:endParaRPr sz="2000" dirty="0">
              <a:latin typeface="Times New Roman"/>
              <a:cs typeface="Times New Roman"/>
            </a:endParaRPr>
          </a:p>
          <a:p>
            <a:pPr marL="241300" marR="5080" indent="-229235">
              <a:lnSpc>
                <a:spcPct val="15230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  <a:tab pos="1336675" algn="l"/>
                <a:tab pos="2985135" algn="l"/>
                <a:tab pos="4109085" algn="l"/>
                <a:tab pos="4845685" algn="l"/>
                <a:tab pos="5777230" algn="l"/>
                <a:tab pos="6826250" algn="l"/>
                <a:tab pos="7308850" algn="l"/>
                <a:tab pos="8003540" algn="l"/>
                <a:tab pos="9040495" algn="l"/>
                <a:tab pos="9909810" algn="l"/>
              </a:tabLst>
            </a:pPr>
            <a:r>
              <a:rPr sz="2000" b="1" spc="-10" dirty="0">
                <a:latin typeface="Times New Roman"/>
                <a:cs typeface="Times New Roman"/>
              </a:rPr>
              <a:t>Problem: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Misinformation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influences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public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opinion,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elections,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and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social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harmony.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Manual</a:t>
            </a:r>
            <a:r>
              <a:rPr lang="en-US" sz="2000" spc="-10" dirty="0">
                <a:latin typeface="Times New Roman"/>
                <a:cs typeface="Times New Roman"/>
              </a:rPr>
              <a:t> </a:t>
            </a:r>
          </a:p>
          <a:p>
            <a:pPr marL="241300" marR="5080" indent="-229235">
              <a:lnSpc>
                <a:spcPct val="15230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  <a:tab pos="1336675" algn="l"/>
                <a:tab pos="2985135" algn="l"/>
                <a:tab pos="4109085" algn="l"/>
                <a:tab pos="4845685" algn="l"/>
                <a:tab pos="5777230" algn="l"/>
                <a:tab pos="6826250" algn="l"/>
                <a:tab pos="7308850" algn="l"/>
                <a:tab pos="8003540" algn="l"/>
                <a:tab pos="9040495" algn="l"/>
                <a:tab pos="9909810" algn="l"/>
              </a:tabLst>
            </a:pPr>
            <a:r>
              <a:rPr sz="2000" spc="-10" dirty="0">
                <a:latin typeface="Times New Roman"/>
                <a:cs typeface="Times New Roman"/>
              </a:rPr>
              <a:t>fact- </a:t>
            </a:r>
            <a:r>
              <a:rPr sz="2000" dirty="0">
                <a:latin typeface="Times New Roman"/>
                <a:cs typeface="Times New Roman"/>
              </a:rPr>
              <a:t>checking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slow,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biased,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unable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handle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large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volume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online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news.</a:t>
            </a:r>
            <a:endParaRPr sz="2000" dirty="0">
              <a:latin typeface="Times New Roman"/>
              <a:cs typeface="Times New Roman"/>
            </a:endParaRPr>
          </a:p>
          <a:p>
            <a:pPr marL="241300" marR="5715" indent="-229235">
              <a:lnSpc>
                <a:spcPct val="155700"/>
              </a:lnSpc>
              <a:spcBef>
                <a:spcPts val="969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b="1" dirty="0">
                <a:latin typeface="Times New Roman"/>
                <a:cs typeface="Times New Roman"/>
              </a:rPr>
              <a:t>Motivation:</a:t>
            </a:r>
            <a:r>
              <a:rPr sz="2000" b="1" spc="3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Automated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machine</a:t>
            </a:r>
            <a:r>
              <a:rPr sz="2000" spc="4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learning-based</a:t>
            </a:r>
            <a:r>
              <a:rPr sz="2000" spc="3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detection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systems</a:t>
            </a:r>
            <a:r>
              <a:rPr sz="2000" spc="3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required</a:t>
            </a:r>
            <a:r>
              <a:rPr sz="2000" spc="3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identify</a:t>
            </a:r>
            <a:r>
              <a:rPr sz="2000" spc="3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fake</a:t>
            </a:r>
            <a:r>
              <a:rPr sz="2000" spc="38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news </a:t>
            </a:r>
            <a:r>
              <a:rPr sz="2000" dirty="0">
                <a:latin typeface="Times New Roman"/>
                <a:cs typeface="Times New Roman"/>
              </a:rPr>
              <a:t>quickly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accurately,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providing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simple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interface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users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verify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news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authenticity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real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time.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575" y="90424"/>
            <a:ext cx="162179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800" spc="-10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8038" y="774128"/>
            <a:ext cx="10373361" cy="60585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b="1" dirty="0">
                <a:latin typeface="Times New Roman"/>
                <a:cs typeface="Times New Roman"/>
              </a:rPr>
              <a:t>Develop</a:t>
            </a:r>
            <a:r>
              <a:rPr sz="1800" b="1" spc="12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ML-</a:t>
            </a:r>
            <a:r>
              <a:rPr sz="1800" b="1" dirty="0">
                <a:latin typeface="Times New Roman"/>
                <a:cs typeface="Times New Roman"/>
              </a:rPr>
              <a:t>based</a:t>
            </a:r>
            <a:r>
              <a:rPr sz="1800" b="1" spc="1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Classification</a:t>
            </a:r>
            <a:r>
              <a:rPr sz="1800" b="1" spc="1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System:</a:t>
            </a:r>
            <a:r>
              <a:rPr sz="1800" b="1" spc="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Build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machine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learning-</a:t>
            </a:r>
            <a:r>
              <a:rPr sz="1800" dirty="0">
                <a:latin typeface="Times New Roman"/>
                <a:cs typeface="Times New Roman"/>
              </a:rPr>
              <a:t>based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fake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news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classification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system</a:t>
            </a:r>
            <a:endParaRPr sz="1800" dirty="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520"/>
              </a:spcBef>
            </a:pP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classify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news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articles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Real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Fake.</a:t>
            </a:r>
            <a:endParaRPr sz="1800" dirty="0">
              <a:latin typeface="Times New Roman"/>
              <a:cs typeface="Times New Roman"/>
            </a:endParaRPr>
          </a:p>
          <a:p>
            <a:pPr marL="241300" marR="5080" indent="-229235">
              <a:lnSpc>
                <a:spcPct val="170400"/>
              </a:lnSpc>
              <a:spcBef>
                <a:spcPts val="975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b="1" spc="-10" dirty="0">
                <a:latin typeface="Times New Roman"/>
                <a:cs typeface="Times New Roman"/>
              </a:rPr>
              <a:t>NLP-</a:t>
            </a:r>
            <a:r>
              <a:rPr sz="1800" b="1" dirty="0">
                <a:latin typeface="Times New Roman"/>
                <a:cs typeface="Times New Roman"/>
              </a:rPr>
              <a:t>based</a:t>
            </a:r>
            <a:r>
              <a:rPr sz="1800" b="1" spc="28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Feature</a:t>
            </a:r>
            <a:r>
              <a:rPr sz="1800" b="1" spc="2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Extraction:</a:t>
            </a:r>
            <a:r>
              <a:rPr sz="1800" b="1" spc="25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</a:t>
            </a:r>
            <a:r>
              <a:rPr sz="1800" spc="2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TF-</a:t>
            </a:r>
            <a:r>
              <a:rPr sz="1800" dirty="0">
                <a:latin typeface="Times New Roman"/>
                <a:cs typeface="Times New Roman"/>
              </a:rPr>
              <a:t>IDF</a:t>
            </a:r>
            <a:r>
              <a:rPr sz="1800" spc="2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vectorization</a:t>
            </a:r>
            <a:r>
              <a:rPr sz="1800" spc="2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229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NLP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preprocessing</a:t>
            </a:r>
            <a:r>
              <a:rPr sz="1800" spc="2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229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extract</a:t>
            </a:r>
            <a:r>
              <a:rPr sz="1800" spc="2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meaningful </a:t>
            </a:r>
            <a:r>
              <a:rPr sz="1800" dirty="0">
                <a:latin typeface="Times New Roman"/>
                <a:cs typeface="Times New Roman"/>
              </a:rPr>
              <a:t>features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news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text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classification.</a:t>
            </a:r>
            <a:endParaRPr sz="1800" dirty="0">
              <a:latin typeface="Times New Roman"/>
              <a:cs typeface="Times New Roman"/>
            </a:endParaRPr>
          </a:p>
          <a:p>
            <a:pPr marL="241300" marR="11430" indent="-229235">
              <a:lnSpc>
                <a:spcPct val="170300"/>
              </a:lnSpc>
              <a:spcBef>
                <a:spcPts val="980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b="1" dirty="0">
                <a:latin typeface="Times New Roman"/>
                <a:cs typeface="Times New Roman"/>
              </a:rPr>
              <a:t>Reduce</a:t>
            </a:r>
            <a:r>
              <a:rPr sz="1800" b="1" spc="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Misinformation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Spread: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Help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reduce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spread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misinformation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online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platforms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</a:t>
            </a:r>
            <a:r>
              <a:rPr sz="1800" spc="-10" dirty="0">
                <a:latin typeface="Times New Roman"/>
                <a:cs typeface="Times New Roman"/>
              </a:rPr>
              <a:t> providing </a:t>
            </a:r>
            <a:r>
              <a:rPr sz="1800" dirty="0">
                <a:latin typeface="Times New Roman"/>
                <a:cs typeface="Times New Roman"/>
              </a:rPr>
              <a:t>instant,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automated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news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verification.</a:t>
            </a:r>
            <a:endParaRPr sz="1800" dirty="0">
              <a:latin typeface="Times New Roman"/>
              <a:cs typeface="Times New Roman"/>
            </a:endParaRPr>
          </a:p>
          <a:p>
            <a:pPr marL="241300" marR="5080" indent="-229235">
              <a:lnSpc>
                <a:spcPct val="170400"/>
              </a:lnSpc>
              <a:spcBef>
                <a:spcPts val="975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b="1" dirty="0">
                <a:latin typeface="Times New Roman"/>
                <a:cs typeface="Times New Roman"/>
              </a:rPr>
              <a:t>Simple</a:t>
            </a:r>
            <a:r>
              <a:rPr sz="1800" b="1" spc="5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User</a:t>
            </a:r>
            <a:r>
              <a:rPr sz="1800" b="1" spc="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Interface:</a:t>
            </a:r>
            <a:r>
              <a:rPr sz="1800" b="1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Provide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simple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accessible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web-</a:t>
            </a:r>
            <a:r>
              <a:rPr sz="1800" dirty="0">
                <a:latin typeface="Times New Roman"/>
                <a:cs typeface="Times New Roman"/>
              </a:rPr>
              <a:t>based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interface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users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paste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news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text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and </a:t>
            </a:r>
            <a:r>
              <a:rPr sz="1800" dirty="0">
                <a:latin typeface="Times New Roman"/>
                <a:cs typeface="Times New Roman"/>
              </a:rPr>
              <a:t>receive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instant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predictions.</a:t>
            </a:r>
            <a:endParaRPr sz="1800" dirty="0">
              <a:latin typeface="Times New Roman"/>
              <a:cs typeface="Times New Roman"/>
            </a:endParaRPr>
          </a:p>
          <a:p>
            <a:pPr marL="241300" marR="5715" indent="-229235">
              <a:lnSpc>
                <a:spcPct val="170400"/>
              </a:lnSpc>
              <a:spcBef>
                <a:spcPts val="1055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b="1" spc="-10" dirty="0">
                <a:latin typeface="Times New Roman"/>
                <a:cs typeface="Times New Roman"/>
              </a:rPr>
              <a:t>Multi-</a:t>
            </a:r>
            <a:r>
              <a:rPr sz="1800" b="1" dirty="0">
                <a:latin typeface="Times New Roman"/>
                <a:cs typeface="Times New Roman"/>
              </a:rPr>
              <a:t>model</a:t>
            </a:r>
            <a:r>
              <a:rPr sz="1800" b="1" spc="7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Support:</a:t>
            </a:r>
            <a:r>
              <a:rPr sz="1800" b="1" spc="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Support</a:t>
            </a:r>
            <a:r>
              <a:rPr sz="1800" spc="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multiple</a:t>
            </a:r>
            <a:r>
              <a:rPr sz="1800" spc="1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ML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algorithms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(Naive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Bayes,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Passive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Aggressive)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confidence </a:t>
            </a:r>
            <a:r>
              <a:rPr sz="1800" dirty="0">
                <a:latin typeface="Times New Roman"/>
                <a:cs typeface="Times New Roman"/>
              </a:rPr>
              <a:t>score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display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each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prediction.</a:t>
            </a:r>
            <a:endParaRPr sz="1800" dirty="0">
              <a:latin typeface="Times New Roman"/>
              <a:cs typeface="Times New Roman"/>
            </a:endParaRPr>
          </a:p>
          <a:p>
            <a:pPr marL="241300" marR="10795" indent="-229235">
              <a:lnSpc>
                <a:spcPct val="170400"/>
              </a:lnSpc>
              <a:spcBef>
                <a:spcPts val="975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b="1" spc="-10" dirty="0">
                <a:latin typeface="Times New Roman"/>
                <a:cs typeface="Times New Roman"/>
              </a:rPr>
              <a:t>Flask-</a:t>
            </a:r>
            <a:r>
              <a:rPr sz="1800" b="1" dirty="0">
                <a:latin typeface="Times New Roman"/>
                <a:cs typeface="Times New Roman"/>
              </a:rPr>
              <a:t>based</a:t>
            </a:r>
            <a:r>
              <a:rPr sz="1800" b="1" spc="6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Backend:</a:t>
            </a:r>
            <a:r>
              <a:rPr sz="1800" b="1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Deploy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application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using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Flask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backend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trained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.pkl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model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files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TF-</a:t>
            </a:r>
            <a:r>
              <a:rPr sz="1800" spc="-25" dirty="0">
                <a:latin typeface="Times New Roman"/>
                <a:cs typeface="Times New Roman"/>
              </a:rPr>
              <a:t>IDF </a:t>
            </a:r>
            <a:r>
              <a:rPr sz="1800" dirty="0">
                <a:latin typeface="Times New Roman"/>
                <a:cs typeface="Times New Roman"/>
              </a:rPr>
              <a:t>vectorizer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efficient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real-</a:t>
            </a:r>
            <a:r>
              <a:rPr sz="1800" dirty="0">
                <a:latin typeface="Times New Roman"/>
                <a:cs typeface="Times New Roman"/>
              </a:rPr>
              <a:t>time</a:t>
            </a:r>
            <a:r>
              <a:rPr sz="1800" spc="-10" dirty="0">
                <a:latin typeface="Times New Roman"/>
                <a:cs typeface="Times New Roman"/>
              </a:rPr>
              <a:t> prediction.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2975" y="457200"/>
            <a:ext cx="4500245" cy="44755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30"/>
              </a:spcBef>
            </a:pP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sz="2800"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2975" y="1143000"/>
            <a:ext cx="10588625" cy="2785827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298450" indent="-285750">
              <a:lnSpc>
                <a:spcPct val="200000"/>
              </a:lnSpc>
              <a:spcBef>
                <a:spcPts val="855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Various</a:t>
            </a:r>
            <a:r>
              <a:rPr sz="20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researchers</a:t>
            </a:r>
            <a:r>
              <a:rPr sz="2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z="2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</a:t>
            </a:r>
            <a:r>
              <a:rPr sz="20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</a:t>
            </a:r>
            <a:r>
              <a:rPr sz="2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r>
              <a:rPr sz="2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r>
              <a:rPr lang="en-US"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lnSpc>
                <a:spcPct val="200000"/>
              </a:lnSpc>
              <a:spcBef>
                <a:spcPts val="755"/>
              </a:spcBef>
              <a:buFont typeface="Arial" panose="020B0604020202020204" pitchFamily="34" charset="0"/>
              <a:buChar char="•"/>
              <a:tabLst>
                <a:tab pos="321945" algn="l"/>
              </a:tabLst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Naive</a:t>
            </a:r>
            <a:r>
              <a:rPr sz="2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Bayes</a:t>
            </a:r>
            <a:r>
              <a:rPr sz="20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</a:t>
            </a:r>
            <a:r>
              <a:rPr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r>
              <a:rPr sz="2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</a:t>
            </a:r>
            <a:r>
              <a:rPr sz="20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news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lnSpc>
                <a:spcPct val="200000"/>
              </a:lnSpc>
              <a:spcBef>
                <a:spcPts val="755"/>
              </a:spcBef>
              <a:buFont typeface="Arial" panose="020B0604020202020204" pitchFamily="34" charset="0"/>
              <a:buChar char="•"/>
              <a:tabLst>
                <a:tab pos="321945" algn="l"/>
              </a:tabLst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</a:t>
            </a:r>
            <a:r>
              <a:rPr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studies</a:t>
            </a:r>
            <a:r>
              <a:rPr sz="2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</a:t>
            </a:r>
            <a:r>
              <a:rPr sz="20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</a:t>
            </a:r>
            <a:r>
              <a:rPr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sz="2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</a:t>
            </a:r>
            <a:r>
              <a:rPr sz="2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lnSpc>
                <a:spcPct val="200000"/>
              </a:lnSpc>
              <a:spcBef>
                <a:spcPts val="75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sz="2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</a:t>
            </a:r>
            <a:r>
              <a:rPr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2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</a:t>
            </a:r>
            <a:r>
              <a:rPr sz="20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r>
              <a:rPr sz="2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extraction.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7E280A-22BD-F67A-7737-5E576E3F4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937" y="428625"/>
            <a:ext cx="7858125" cy="600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208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575" y="457200"/>
            <a:ext cx="10356850" cy="4495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82550">
              <a:lnSpc>
                <a:spcPct val="100000"/>
              </a:lnSpc>
              <a:spcBef>
                <a:spcPts val="125"/>
              </a:spcBef>
            </a:pPr>
            <a:r>
              <a:rPr sz="2800" dirty="0"/>
              <a:t>Existing</a:t>
            </a:r>
            <a:r>
              <a:rPr sz="2800" spc="114" dirty="0"/>
              <a:t> </a:t>
            </a:r>
            <a:r>
              <a:rPr sz="2800" spc="-10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223581"/>
            <a:ext cx="7640320" cy="437876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98500" indent="-22860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698500" algn="l"/>
              </a:tabLst>
            </a:pPr>
            <a:r>
              <a:rPr sz="1850" dirty="0">
                <a:latin typeface="Times New Roman"/>
                <a:cs typeface="Times New Roman"/>
              </a:rPr>
              <a:t>Manual</a:t>
            </a:r>
            <a:r>
              <a:rPr sz="1850" spc="1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verification</a:t>
            </a:r>
            <a:r>
              <a:rPr sz="1850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by</a:t>
            </a:r>
            <a:r>
              <a:rPr sz="1850" spc="10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fact-checking</a:t>
            </a:r>
            <a:r>
              <a:rPr sz="1850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organizations</a:t>
            </a:r>
            <a:r>
              <a:rPr sz="1850" spc="18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is</a:t>
            </a:r>
            <a:r>
              <a:rPr sz="1850" spc="10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widely</a:t>
            </a:r>
            <a:r>
              <a:rPr sz="1850" spc="12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used.</a:t>
            </a:r>
            <a:endParaRPr sz="1850" dirty="0">
              <a:latin typeface="Times New Roman"/>
              <a:cs typeface="Times New Roman"/>
            </a:endParaRPr>
          </a:p>
          <a:p>
            <a:pPr marL="698500" indent="-228600">
              <a:lnSpc>
                <a:spcPct val="100000"/>
              </a:lnSpc>
              <a:spcBef>
                <a:spcPts val="1685"/>
              </a:spcBef>
              <a:buFont typeface="Arial MT"/>
              <a:buChar char="•"/>
              <a:tabLst>
                <a:tab pos="698500" algn="l"/>
              </a:tabLst>
            </a:pPr>
            <a:r>
              <a:rPr sz="1850" dirty="0">
                <a:latin typeface="Times New Roman"/>
                <a:cs typeface="Times New Roman"/>
              </a:rPr>
              <a:t>Users</a:t>
            </a:r>
            <a:r>
              <a:rPr sz="1850" spc="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rely</a:t>
            </a:r>
            <a:r>
              <a:rPr sz="1850" spc="10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on</a:t>
            </a:r>
            <a:r>
              <a:rPr sz="1850" spc="10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news</a:t>
            </a:r>
            <a:r>
              <a:rPr sz="1850" spc="8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channels</a:t>
            </a:r>
            <a:r>
              <a:rPr sz="1850" spc="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and</a:t>
            </a:r>
            <a:r>
              <a:rPr sz="1850" spc="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media</a:t>
            </a:r>
            <a:r>
              <a:rPr sz="1850" spc="5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credibility</a:t>
            </a:r>
            <a:r>
              <a:rPr sz="1850" spc="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for</a:t>
            </a:r>
            <a:r>
              <a:rPr sz="1850" spc="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truth</a:t>
            </a:r>
            <a:r>
              <a:rPr sz="1850" spc="10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verification.</a:t>
            </a:r>
            <a:endParaRPr sz="1850" dirty="0">
              <a:latin typeface="Times New Roman"/>
              <a:cs typeface="Times New Roman"/>
            </a:endParaRPr>
          </a:p>
          <a:p>
            <a:pPr marL="698500" indent="-228600">
              <a:lnSpc>
                <a:spcPct val="100000"/>
              </a:lnSpc>
              <a:spcBef>
                <a:spcPts val="1764"/>
              </a:spcBef>
              <a:buFont typeface="Arial MT"/>
              <a:buChar char="•"/>
              <a:tabLst>
                <a:tab pos="698500" algn="l"/>
              </a:tabLst>
            </a:pPr>
            <a:r>
              <a:rPr sz="1850" dirty="0">
                <a:latin typeface="Times New Roman"/>
                <a:cs typeface="Times New Roman"/>
              </a:rPr>
              <a:t>Social</a:t>
            </a:r>
            <a:r>
              <a:rPr sz="1850" spc="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media</a:t>
            </a:r>
            <a:r>
              <a:rPr sz="1850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platforms</a:t>
            </a:r>
            <a:r>
              <a:rPr sz="1850" spc="6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only</a:t>
            </a:r>
            <a:r>
              <a:rPr sz="1850" spc="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partially</a:t>
            </a:r>
            <a:r>
              <a:rPr sz="1850" spc="8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filter</a:t>
            </a:r>
            <a:r>
              <a:rPr sz="1850" spc="9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misinformation.</a:t>
            </a:r>
            <a:endParaRPr sz="18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28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Disadvantages</a:t>
            </a:r>
            <a:endParaRPr sz="2800" dirty="0">
              <a:latin typeface="Times New Roman"/>
              <a:cs typeface="Times New Roman"/>
            </a:endParaRPr>
          </a:p>
          <a:p>
            <a:pPr marL="698500" indent="-228600">
              <a:lnSpc>
                <a:spcPct val="100000"/>
              </a:lnSpc>
              <a:spcBef>
                <a:spcPts val="1355"/>
              </a:spcBef>
              <a:buFont typeface="Arial MT"/>
              <a:buChar char="•"/>
              <a:tabLst>
                <a:tab pos="698500" algn="l"/>
              </a:tabLst>
            </a:pPr>
            <a:r>
              <a:rPr sz="1850" dirty="0">
                <a:latin typeface="Times New Roman"/>
                <a:cs typeface="Times New Roman"/>
              </a:rPr>
              <a:t>Manual</a:t>
            </a:r>
            <a:r>
              <a:rPr sz="1850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verification</a:t>
            </a:r>
            <a:r>
              <a:rPr sz="1850" spc="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is</a:t>
            </a:r>
            <a:r>
              <a:rPr sz="1850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slow</a:t>
            </a:r>
            <a:r>
              <a:rPr sz="1850" spc="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and</a:t>
            </a:r>
            <a:r>
              <a:rPr sz="1850" spc="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time-</a:t>
            </a:r>
            <a:r>
              <a:rPr sz="1850" spc="-10" dirty="0">
                <a:latin typeface="Times New Roman"/>
                <a:cs typeface="Times New Roman"/>
              </a:rPr>
              <a:t>consuming.</a:t>
            </a:r>
            <a:endParaRPr sz="1850" dirty="0">
              <a:latin typeface="Times New Roman"/>
              <a:cs typeface="Times New Roman"/>
            </a:endParaRPr>
          </a:p>
          <a:p>
            <a:pPr marL="698500" indent="-228600">
              <a:lnSpc>
                <a:spcPct val="100000"/>
              </a:lnSpc>
              <a:spcBef>
                <a:spcPts val="1685"/>
              </a:spcBef>
              <a:buFont typeface="Arial MT"/>
              <a:buChar char="•"/>
              <a:tabLst>
                <a:tab pos="698500" algn="l"/>
              </a:tabLst>
            </a:pPr>
            <a:r>
              <a:rPr sz="1850" dirty="0">
                <a:latin typeface="Times New Roman"/>
                <a:cs typeface="Times New Roman"/>
              </a:rPr>
              <a:t>Human</a:t>
            </a:r>
            <a:r>
              <a:rPr sz="1850" spc="10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bias</a:t>
            </a:r>
            <a:r>
              <a:rPr sz="1850" spc="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affects</a:t>
            </a:r>
            <a:r>
              <a:rPr sz="1850" spc="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verification</a:t>
            </a:r>
            <a:r>
              <a:rPr sz="1850" spc="10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accuracy</a:t>
            </a:r>
            <a:r>
              <a:rPr sz="1850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and</a:t>
            </a:r>
            <a:r>
              <a:rPr sz="1850" spc="10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objectivity.</a:t>
            </a:r>
            <a:endParaRPr sz="1850" dirty="0">
              <a:latin typeface="Times New Roman"/>
              <a:cs typeface="Times New Roman"/>
            </a:endParaRPr>
          </a:p>
          <a:p>
            <a:pPr marL="698500" indent="-228600">
              <a:lnSpc>
                <a:spcPct val="100000"/>
              </a:lnSpc>
              <a:spcBef>
                <a:spcPts val="1685"/>
              </a:spcBef>
              <a:buFont typeface="Arial MT"/>
              <a:buChar char="•"/>
              <a:tabLst>
                <a:tab pos="698500" algn="l"/>
              </a:tabLst>
            </a:pPr>
            <a:r>
              <a:rPr sz="1850" dirty="0">
                <a:latin typeface="Times New Roman"/>
                <a:cs typeface="Times New Roman"/>
              </a:rPr>
              <a:t>Large</a:t>
            </a:r>
            <a:r>
              <a:rPr sz="1850" spc="10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volume</a:t>
            </a:r>
            <a:r>
              <a:rPr sz="1850" spc="6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5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online</a:t>
            </a:r>
            <a:r>
              <a:rPr sz="1850" spc="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news</a:t>
            </a:r>
            <a:r>
              <a:rPr sz="1850" spc="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cannot</a:t>
            </a:r>
            <a:r>
              <a:rPr sz="1850" spc="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be</a:t>
            </a:r>
            <a:r>
              <a:rPr sz="1850" spc="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handled</a:t>
            </a:r>
            <a:r>
              <a:rPr sz="1850" spc="114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manually.</a:t>
            </a:r>
            <a:endParaRPr sz="1850" dirty="0">
              <a:latin typeface="Times New Roman"/>
              <a:cs typeface="Times New Roman"/>
            </a:endParaRPr>
          </a:p>
          <a:p>
            <a:pPr marL="698500" indent="-228600">
              <a:lnSpc>
                <a:spcPct val="100000"/>
              </a:lnSpc>
              <a:spcBef>
                <a:spcPts val="1685"/>
              </a:spcBef>
              <a:buFont typeface="Arial MT"/>
              <a:buChar char="•"/>
              <a:tabLst>
                <a:tab pos="698500" algn="l"/>
              </a:tabLst>
            </a:pPr>
            <a:r>
              <a:rPr sz="1850" dirty="0">
                <a:latin typeface="Times New Roman"/>
                <a:cs typeface="Times New Roman"/>
              </a:rPr>
              <a:t>No</a:t>
            </a:r>
            <a:r>
              <a:rPr sz="1850" spc="1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real-time</a:t>
            </a:r>
            <a:r>
              <a:rPr sz="1850" spc="7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automated</a:t>
            </a:r>
            <a:r>
              <a:rPr sz="1850" spc="8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system</a:t>
            </a:r>
            <a:r>
              <a:rPr sz="1850" spc="7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10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detect</a:t>
            </a:r>
            <a:r>
              <a:rPr sz="1850" spc="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misinformation</a:t>
            </a:r>
            <a:r>
              <a:rPr sz="1850" spc="1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at</a:t>
            </a:r>
            <a:r>
              <a:rPr sz="1850" spc="10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scale.</a:t>
            </a:r>
            <a:endParaRPr sz="1850" dirty="0">
              <a:latin typeface="Times New Roman"/>
              <a:cs typeface="Times New Roman"/>
            </a:endParaRPr>
          </a:p>
          <a:p>
            <a:pPr marL="698500" indent="-228600">
              <a:lnSpc>
                <a:spcPct val="100000"/>
              </a:lnSpc>
              <a:spcBef>
                <a:spcPts val="1760"/>
              </a:spcBef>
              <a:buFont typeface="Arial MT"/>
              <a:buChar char="•"/>
              <a:tabLst>
                <a:tab pos="698500" algn="l"/>
              </a:tabLst>
            </a:pPr>
            <a:r>
              <a:rPr sz="1850" dirty="0">
                <a:latin typeface="Times New Roman"/>
                <a:cs typeface="Times New Roman"/>
              </a:rPr>
              <a:t>Existing</a:t>
            </a:r>
            <a:r>
              <a:rPr sz="1850" spc="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tools</a:t>
            </a:r>
            <a:r>
              <a:rPr sz="1850" spc="1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lack</a:t>
            </a:r>
            <a:r>
              <a:rPr sz="1850" spc="1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confidence</a:t>
            </a:r>
            <a:r>
              <a:rPr sz="1850" spc="5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scoring</a:t>
            </a:r>
            <a:r>
              <a:rPr sz="1850" spc="10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for</a:t>
            </a:r>
            <a:r>
              <a:rPr sz="1850" spc="12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predictions.</a:t>
            </a:r>
            <a:endParaRPr sz="18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Proposed</a:t>
            </a:r>
            <a:r>
              <a:rPr spc="95" dirty="0"/>
              <a:t> </a:t>
            </a:r>
            <a:r>
              <a:rPr spc="-10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005141"/>
            <a:ext cx="8281034" cy="4220834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241300" indent="-228600">
              <a:lnSpc>
                <a:spcPct val="200000"/>
              </a:lnSpc>
              <a:spcBef>
                <a:spcPts val="844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Automated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Fake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News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Detector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Machine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Learning.</a:t>
            </a:r>
            <a:endParaRPr sz="2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200000"/>
              </a:lnSpc>
              <a:spcBef>
                <a:spcPts val="75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analyzes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news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content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predicts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authenticity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trained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models.</a:t>
            </a:r>
            <a:endParaRPr sz="2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200000"/>
              </a:lnSpc>
              <a:spcBef>
                <a:spcPts val="75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Uses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Natural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Language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Processing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techniques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including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TF-IDF</a:t>
            </a:r>
            <a:r>
              <a:rPr sz="2000" spc="-10" dirty="0">
                <a:latin typeface="Times New Roman"/>
                <a:cs typeface="Times New Roman"/>
              </a:rPr>
              <a:t> vectorization.</a:t>
            </a:r>
            <a:endParaRPr sz="2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200000"/>
              </a:lnSpc>
              <a:spcBef>
                <a:spcPts val="75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Provides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instant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Real/Fake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prediction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confidence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score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output.</a:t>
            </a:r>
            <a:endParaRPr sz="2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200000"/>
              </a:lnSpc>
              <a:spcBef>
                <a:spcPts val="75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spc="-10" dirty="0">
                <a:latin typeface="Times New Roman"/>
                <a:cs typeface="Times New Roman"/>
              </a:rPr>
              <a:t>Flask-</a:t>
            </a:r>
            <a:r>
              <a:rPr sz="2000" dirty="0">
                <a:latin typeface="Times New Roman"/>
                <a:cs typeface="Times New Roman"/>
              </a:rPr>
              <a:t>based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web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accessible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via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standard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web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browser.</a:t>
            </a:r>
            <a:endParaRPr sz="2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200000"/>
              </a:lnSpc>
              <a:spcBef>
                <a:spcPts val="75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Supports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two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ML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models: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Naive Bayes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Passive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Aggressive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Classifier.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574" y="318135"/>
            <a:ext cx="6702425" cy="44755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800" dirty="0"/>
              <a:t>Proposed</a:t>
            </a:r>
            <a:r>
              <a:rPr sz="2800" spc="125" dirty="0"/>
              <a:t> </a:t>
            </a:r>
            <a:r>
              <a:rPr sz="2800" dirty="0"/>
              <a:t>System</a:t>
            </a:r>
            <a:r>
              <a:rPr sz="2800" spc="-75" dirty="0"/>
              <a:t> </a:t>
            </a:r>
            <a:r>
              <a:rPr sz="2800" spc="-1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4" y="796173"/>
            <a:ext cx="10365105" cy="5274521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241300" indent="-228600">
              <a:spcBef>
                <a:spcPts val="1090"/>
              </a:spcBef>
              <a:buFont typeface="Arial MT"/>
              <a:buChar char="•"/>
              <a:tabLst>
                <a:tab pos="241300" algn="l"/>
              </a:tabLst>
            </a:pPr>
            <a:r>
              <a:rPr b="1" dirty="0">
                <a:latin typeface="Times New Roman"/>
                <a:cs typeface="Times New Roman"/>
              </a:rPr>
              <a:t>System</a:t>
            </a:r>
            <a:r>
              <a:rPr b="1" spc="204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Overview:</a:t>
            </a:r>
            <a:r>
              <a:rPr b="1" spc="229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</a:t>
            </a:r>
            <a:r>
              <a:rPr spc="20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system</a:t>
            </a:r>
            <a:r>
              <a:rPr spc="2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is</a:t>
            </a:r>
            <a:r>
              <a:rPr spc="229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</a:t>
            </a:r>
            <a:r>
              <a:rPr spc="229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Flask-based</a:t>
            </a:r>
            <a:r>
              <a:rPr spc="2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web</a:t>
            </a:r>
            <a:r>
              <a:rPr spc="2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application</a:t>
            </a:r>
            <a:r>
              <a:rPr spc="2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that</a:t>
            </a:r>
            <a:r>
              <a:rPr spc="25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takes</a:t>
            </a:r>
            <a:r>
              <a:rPr spc="2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news</a:t>
            </a:r>
            <a:r>
              <a:rPr spc="18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article</a:t>
            </a:r>
            <a:r>
              <a:rPr spc="254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text</a:t>
            </a:r>
            <a:r>
              <a:rPr spc="254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as</a:t>
            </a:r>
            <a:r>
              <a:rPr spc="18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input,</a:t>
            </a:r>
            <a:r>
              <a:rPr spc="2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preprocesses</a:t>
            </a:r>
            <a:r>
              <a:rPr spc="2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it,</a:t>
            </a:r>
            <a:r>
              <a:rPr spc="225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Times New Roman"/>
                <a:cs typeface="Times New Roman"/>
              </a:rPr>
              <a:t>and</a:t>
            </a:r>
            <a:endParaRPr dirty="0">
              <a:latin typeface="Times New Roman"/>
              <a:cs typeface="Times New Roman"/>
            </a:endParaRPr>
          </a:p>
          <a:p>
            <a:pPr marL="241300">
              <a:spcBef>
                <a:spcPts val="994"/>
              </a:spcBef>
            </a:pPr>
            <a:r>
              <a:rPr dirty="0">
                <a:latin typeface="Times New Roman"/>
                <a:cs typeface="Times New Roman"/>
              </a:rPr>
              <a:t>uses</a:t>
            </a:r>
            <a:r>
              <a:rPr spc="7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trained</a:t>
            </a:r>
            <a:r>
              <a:rPr spc="10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ML</a:t>
            </a:r>
            <a:r>
              <a:rPr spc="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models</a:t>
            </a:r>
            <a:r>
              <a:rPr spc="6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to</a:t>
            </a:r>
            <a:r>
              <a:rPr spc="114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predict</a:t>
            </a:r>
            <a:r>
              <a:rPr spc="6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whether</a:t>
            </a:r>
            <a:r>
              <a:rPr spc="9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</a:t>
            </a:r>
            <a:r>
              <a:rPr spc="8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news</a:t>
            </a:r>
            <a:r>
              <a:rPr spc="6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is</a:t>
            </a:r>
            <a:r>
              <a:rPr spc="114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Real</a:t>
            </a:r>
            <a:r>
              <a:rPr spc="1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or</a:t>
            </a:r>
            <a:r>
              <a:rPr spc="8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Fake</a:t>
            </a:r>
            <a:r>
              <a:rPr spc="114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with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</a:t>
            </a:r>
            <a:r>
              <a:rPr spc="114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confidence</a:t>
            </a:r>
            <a:r>
              <a:rPr spc="15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score.</a:t>
            </a:r>
            <a:endParaRPr dirty="0">
              <a:latin typeface="Times New Roman"/>
              <a:cs typeface="Times New Roman"/>
            </a:endParaRPr>
          </a:p>
          <a:p>
            <a:pPr>
              <a:spcBef>
                <a:spcPts val="265"/>
              </a:spcBef>
            </a:pPr>
            <a:endParaRPr dirty="0">
              <a:latin typeface="Times New Roman"/>
              <a:cs typeface="Times New Roman"/>
            </a:endParaRPr>
          </a:p>
          <a:p>
            <a:pPr marL="241300" indent="-228600">
              <a:buFont typeface="Arial MT"/>
              <a:buChar char="•"/>
              <a:tabLst>
                <a:tab pos="241300" algn="l"/>
              </a:tabLst>
            </a:pPr>
            <a:r>
              <a:rPr b="1" spc="-10" dirty="0">
                <a:latin typeface="Times New Roman"/>
                <a:cs typeface="Times New Roman"/>
              </a:rPr>
              <a:t>Layers:</a:t>
            </a:r>
            <a:endParaRPr dirty="0">
              <a:latin typeface="Times New Roman"/>
              <a:cs typeface="Times New Roman"/>
            </a:endParaRPr>
          </a:p>
          <a:p>
            <a:pPr marL="755650" lvl="1" indent="-285750">
              <a:spcBef>
                <a:spcPts val="1520"/>
              </a:spcBef>
              <a:buFont typeface="Arial MT"/>
              <a:buChar char="•"/>
              <a:tabLst>
                <a:tab pos="755650" algn="l"/>
              </a:tabLst>
            </a:pPr>
            <a:r>
              <a:rPr b="1" dirty="0">
                <a:latin typeface="Times New Roman"/>
                <a:cs typeface="Times New Roman"/>
              </a:rPr>
              <a:t>Client</a:t>
            </a:r>
            <a:r>
              <a:rPr b="1" spc="7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Layer:</a:t>
            </a:r>
            <a:r>
              <a:rPr b="1" spc="10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HTML</a:t>
            </a:r>
            <a:r>
              <a:rPr spc="6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+</a:t>
            </a:r>
            <a:r>
              <a:rPr spc="9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CSS</a:t>
            </a:r>
            <a:r>
              <a:rPr spc="10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+</a:t>
            </a:r>
            <a:r>
              <a:rPr spc="9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Flask</a:t>
            </a:r>
            <a:r>
              <a:rPr spc="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Templates</a:t>
            </a:r>
            <a:r>
              <a:rPr spc="1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rendered</a:t>
            </a:r>
            <a:r>
              <a:rPr spc="114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in</a:t>
            </a:r>
            <a:r>
              <a:rPr spc="9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</a:t>
            </a:r>
            <a:r>
              <a:rPr spc="7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user's</a:t>
            </a:r>
            <a:r>
              <a:rPr spc="5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web</a:t>
            </a:r>
            <a:r>
              <a:rPr spc="8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browser.</a:t>
            </a:r>
            <a:endParaRPr dirty="0">
              <a:latin typeface="Times New Roman"/>
              <a:cs typeface="Times New Roman"/>
            </a:endParaRPr>
          </a:p>
          <a:p>
            <a:pPr marL="755650" lvl="1" indent="-285750">
              <a:spcBef>
                <a:spcPts val="1515"/>
              </a:spcBef>
              <a:buFont typeface="Arial MT"/>
              <a:buChar char="•"/>
              <a:tabLst>
                <a:tab pos="755650" algn="l"/>
              </a:tabLst>
            </a:pPr>
            <a:r>
              <a:rPr b="1" dirty="0">
                <a:latin typeface="Times New Roman"/>
                <a:cs typeface="Times New Roman"/>
              </a:rPr>
              <a:t>Server</a:t>
            </a:r>
            <a:r>
              <a:rPr b="1" spc="12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Layer:</a:t>
            </a:r>
            <a:r>
              <a:rPr b="1" spc="15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Flask</a:t>
            </a:r>
            <a:r>
              <a:rPr spc="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Application</a:t>
            </a:r>
            <a:r>
              <a:rPr spc="18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(Python)</a:t>
            </a:r>
            <a:r>
              <a:rPr spc="1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handles</a:t>
            </a:r>
            <a:r>
              <a:rPr spc="16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input</a:t>
            </a:r>
            <a:r>
              <a:rPr spc="16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text</a:t>
            </a:r>
            <a:r>
              <a:rPr spc="16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processing,</a:t>
            </a:r>
            <a:r>
              <a:rPr spc="8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TF-IDF</a:t>
            </a:r>
            <a:r>
              <a:rPr spc="10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vectorization,</a:t>
            </a:r>
            <a:r>
              <a:rPr spc="15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and</a:t>
            </a:r>
            <a:r>
              <a:rPr spc="17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model</a:t>
            </a:r>
            <a:r>
              <a:rPr spc="10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selection.</a:t>
            </a:r>
            <a:endParaRPr dirty="0">
              <a:latin typeface="Times New Roman"/>
              <a:cs typeface="Times New Roman"/>
            </a:endParaRPr>
          </a:p>
          <a:p>
            <a:pPr marL="756285" marR="5080" lvl="1" indent="-286385">
              <a:spcBef>
                <a:spcPts val="455"/>
              </a:spcBef>
              <a:buFont typeface="Arial MT"/>
              <a:buChar char="•"/>
              <a:tabLst>
                <a:tab pos="756285" algn="l"/>
                <a:tab pos="1913255" algn="l"/>
                <a:tab pos="2629535" algn="l"/>
                <a:tab pos="3384550" algn="l"/>
                <a:tab pos="5035550" algn="l"/>
                <a:tab pos="5641975" algn="l"/>
                <a:tab pos="6882130" algn="l"/>
                <a:tab pos="8272780" algn="l"/>
                <a:tab pos="8695055" algn="l"/>
                <a:tab pos="9434830" algn="l"/>
              </a:tabLst>
            </a:pPr>
            <a:r>
              <a:rPr b="1" spc="-10" dirty="0">
                <a:latin typeface="Times New Roman"/>
                <a:cs typeface="Times New Roman"/>
              </a:rPr>
              <a:t>Data/Model</a:t>
            </a:r>
            <a:r>
              <a:rPr b="1" dirty="0">
                <a:latin typeface="Times New Roman"/>
                <a:cs typeface="Times New Roman"/>
              </a:rPr>
              <a:t>	</a:t>
            </a:r>
            <a:r>
              <a:rPr b="1" spc="-10" dirty="0">
                <a:latin typeface="Times New Roman"/>
                <a:cs typeface="Times New Roman"/>
              </a:rPr>
              <a:t>Layer:</a:t>
            </a:r>
            <a:r>
              <a:rPr b="1" dirty="0">
                <a:latin typeface="Times New Roman"/>
                <a:cs typeface="Times New Roman"/>
              </a:rPr>
              <a:t>	</a:t>
            </a:r>
            <a:r>
              <a:rPr spc="-10" dirty="0">
                <a:latin typeface="Times New Roman"/>
                <a:cs typeface="Times New Roman"/>
              </a:rPr>
              <a:t>Trained</a:t>
            </a:r>
            <a:r>
              <a:rPr dirty="0">
                <a:latin typeface="Times New Roman"/>
                <a:cs typeface="Times New Roman"/>
              </a:rPr>
              <a:t>	ML</a:t>
            </a:r>
            <a:r>
              <a:rPr spc="140" dirty="0">
                <a:latin typeface="Times New Roman"/>
                <a:cs typeface="Times New Roman"/>
              </a:rPr>
              <a:t>  </a:t>
            </a:r>
            <a:r>
              <a:rPr dirty="0">
                <a:latin typeface="Times New Roman"/>
                <a:cs typeface="Times New Roman"/>
              </a:rPr>
              <a:t>models</a:t>
            </a:r>
            <a:r>
              <a:rPr spc="155" dirty="0">
                <a:latin typeface="Times New Roman"/>
                <a:cs typeface="Times New Roman"/>
              </a:rPr>
              <a:t>  </a:t>
            </a:r>
            <a:r>
              <a:rPr spc="-10" dirty="0">
                <a:latin typeface="Times New Roman"/>
                <a:cs typeface="Times New Roman"/>
              </a:rPr>
              <a:t>(.pkl</a:t>
            </a:r>
            <a:r>
              <a:rPr dirty="0">
                <a:latin typeface="Times New Roman"/>
                <a:cs typeface="Times New Roman"/>
              </a:rPr>
              <a:t>	</a:t>
            </a:r>
            <a:r>
              <a:rPr spc="-10" dirty="0">
                <a:latin typeface="Times New Roman"/>
                <a:cs typeface="Times New Roman"/>
              </a:rPr>
              <a:t>files):</a:t>
            </a:r>
            <a:r>
              <a:rPr dirty="0">
                <a:latin typeface="Times New Roman"/>
                <a:cs typeface="Times New Roman"/>
              </a:rPr>
              <a:t>	Naive</a:t>
            </a:r>
            <a:r>
              <a:rPr spc="160" dirty="0">
                <a:latin typeface="Times New Roman"/>
                <a:cs typeface="Times New Roman"/>
              </a:rPr>
              <a:t>  </a:t>
            </a:r>
            <a:r>
              <a:rPr spc="-10" dirty="0">
                <a:latin typeface="Times New Roman"/>
                <a:cs typeface="Times New Roman"/>
              </a:rPr>
              <a:t>Bayes</a:t>
            </a:r>
            <a:r>
              <a:rPr dirty="0">
                <a:latin typeface="Times New Roman"/>
                <a:cs typeface="Times New Roman"/>
              </a:rPr>
              <a:t>	</a:t>
            </a:r>
            <a:r>
              <a:rPr spc="-10" dirty="0">
                <a:latin typeface="Times New Roman"/>
                <a:cs typeface="Times New Roman"/>
              </a:rPr>
              <a:t>(</a:t>
            </a:r>
            <a:r>
              <a:rPr spc="-10" dirty="0" err="1">
                <a:latin typeface="Times New Roman"/>
                <a:cs typeface="Times New Roman"/>
              </a:rPr>
              <a:t>model_nb.pkl</a:t>
            </a:r>
            <a:r>
              <a:rPr spc="-10" dirty="0">
                <a:latin typeface="Times New Roman"/>
                <a:cs typeface="Times New Roman"/>
              </a:rPr>
              <a:t>)</a:t>
            </a:r>
            <a:r>
              <a:rPr lang="en-US" spc="-10" dirty="0">
                <a:latin typeface="Times New Roman"/>
                <a:cs typeface="Times New Roman"/>
              </a:rPr>
              <a:t> a</a:t>
            </a:r>
            <a:r>
              <a:rPr spc="-25" dirty="0">
                <a:latin typeface="Times New Roman"/>
                <a:cs typeface="Times New Roman"/>
              </a:rPr>
              <a:t>nd</a:t>
            </a:r>
            <a:r>
              <a:rPr lang="en-US" spc="-2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Passive</a:t>
            </a:r>
            <a:r>
              <a:rPr dirty="0">
                <a:latin typeface="Times New Roman"/>
                <a:cs typeface="Times New Roman"/>
              </a:rPr>
              <a:t>	</a:t>
            </a:r>
            <a:r>
              <a:rPr spc="-10" dirty="0">
                <a:latin typeface="Times New Roman"/>
                <a:cs typeface="Times New Roman"/>
              </a:rPr>
              <a:t>Aggressive </a:t>
            </a:r>
            <a:r>
              <a:rPr dirty="0">
                <a:latin typeface="Times New Roman"/>
                <a:cs typeface="Times New Roman"/>
              </a:rPr>
              <a:t>(model_pa.pkl),</a:t>
            </a:r>
            <a:r>
              <a:rPr spc="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TF-IDF</a:t>
            </a:r>
            <a:r>
              <a:rPr spc="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Vectorizer,</a:t>
            </a:r>
            <a:r>
              <a:rPr spc="15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and</a:t>
            </a:r>
            <a:r>
              <a:rPr spc="15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Dataset</a:t>
            </a:r>
            <a:r>
              <a:rPr spc="15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(fake_or_real_news.csv).</a:t>
            </a:r>
            <a:endParaRPr dirty="0">
              <a:latin typeface="Times New Roman"/>
              <a:cs typeface="Times New Roman"/>
            </a:endParaRPr>
          </a:p>
          <a:p>
            <a:pPr marL="755650" lvl="1" indent="-285750">
              <a:spcBef>
                <a:spcPts val="1520"/>
              </a:spcBef>
              <a:buFont typeface="Arial MT"/>
              <a:buChar char="•"/>
              <a:tabLst>
                <a:tab pos="755650" algn="l"/>
              </a:tabLst>
            </a:pPr>
            <a:r>
              <a:rPr b="1" dirty="0">
                <a:latin typeface="Times New Roman"/>
                <a:cs typeface="Times New Roman"/>
              </a:rPr>
              <a:t>Output:</a:t>
            </a:r>
            <a:r>
              <a:rPr b="1" spc="10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Real</a:t>
            </a:r>
            <a:r>
              <a:rPr spc="1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/</a:t>
            </a:r>
            <a:r>
              <a:rPr spc="10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Fake</a:t>
            </a:r>
            <a:r>
              <a:rPr spc="1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prediction</a:t>
            </a:r>
            <a:r>
              <a:rPr spc="1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with</a:t>
            </a:r>
            <a:r>
              <a:rPr spc="1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Confidence</a:t>
            </a:r>
            <a:r>
              <a:rPr spc="10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Score</a:t>
            </a:r>
            <a:r>
              <a:rPr spc="1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displayed</a:t>
            </a:r>
            <a:r>
              <a:rPr spc="15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to</a:t>
            </a:r>
            <a:r>
              <a:rPr spc="1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</a:t>
            </a:r>
            <a:r>
              <a:rPr spc="8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user.</a:t>
            </a:r>
            <a:endParaRPr dirty="0">
              <a:latin typeface="Times New Roman"/>
              <a:cs typeface="Times New Roman"/>
            </a:endParaRPr>
          </a:p>
          <a:p>
            <a:pPr marL="749300" lvl="1" indent="-279400">
              <a:spcBef>
                <a:spcPts val="1520"/>
              </a:spcBef>
              <a:buFont typeface="Arial MT"/>
              <a:buChar char="•"/>
              <a:tabLst>
                <a:tab pos="749300" algn="l"/>
              </a:tabLst>
            </a:pPr>
            <a:r>
              <a:rPr b="1" dirty="0">
                <a:latin typeface="Times New Roman"/>
                <a:cs typeface="Times New Roman"/>
              </a:rPr>
              <a:t>Model</a:t>
            </a:r>
            <a:r>
              <a:rPr b="1" spc="15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Selection</a:t>
            </a:r>
            <a:r>
              <a:rPr dirty="0">
                <a:latin typeface="Times New Roman"/>
                <a:cs typeface="Times New Roman"/>
              </a:rPr>
              <a:t>: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User</a:t>
            </a:r>
            <a:r>
              <a:rPr spc="16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can</a:t>
            </a:r>
            <a:r>
              <a:rPr spc="1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choose</a:t>
            </a:r>
            <a:r>
              <a:rPr spc="1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between</a:t>
            </a:r>
            <a:r>
              <a:rPr spc="10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Naive</a:t>
            </a:r>
            <a:r>
              <a:rPr spc="10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Bayes</a:t>
            </a:r>
            <a:r>
              <a:rPr spc="1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and</a:t>
            </a:r>
            <a:r>
              <a:rPr spc="15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Passive</a:t>
            </a:r>
            <a:r>
              <a:rPr spc="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Aggressive</a:t>
            </a:r>
            <a:r>
              <a:rPr spc="9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classifiers.</a:t>
            </a:r>
            <a:endParaRPr dirty="0">
              <a:latin typeface="Times New Roman"/>
              <a:cs typeface="Times New Roman"/>
            </a:endParaRPr>
          </a:p>
          <a:p>
            <a:pPr marL="749300" lvl="1" indent="-279400">
              <a:spcBef>
                <a:spcPts val="1520"/>
              </a:spcBef>
              <a:buFont typeface="Arial MT"/>
              <a:buChar char="•"/>
              <a:tabLst>
                <a:tab pos="749300" algn="l"/>
              </a:tabLst>
            </a:pPr>
            <a:r>
              <a:rPr b="1" dirty="0">
                <a:latin typeface="Times New Roman"/>
                <a:cs typeface="Times New Roman"/>
              </a:rPr>
              <a:t>Prediction</a:t>
            </a:r>
            <a:r>
              <a:rPr b="1" spc="14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Engine</a:t>
            </a:r>
            <a:r>
              <a:rPr dirty="0">
                <a:latin typeface="Times New Roman"/>
                <a:cs typeface="Times New Roman"/>
              </a:rPr>
              <a:t>:</a:t>
            </a:r>
            <a:r>
              <a:rPr spc="15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Confidence</a:t>
            </a:r>
            <a:r>
              <a:rPr spc="16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Score</a:t>
            </a:r>
            <a:r>
              <a:rPr spc="17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Calculation</a:t>
            </a:r>
            <a:r>
              <a:rPr spc="16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based</a:t>
            </a:r>
            <a:r>
              <a:rPr spc="15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on</a:t>
            </a:r>
            <a:r>
              <a:rPr spc="114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model</a:t>
            </a:r>
            <a:r>
              <a:rPr spc="10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probability</a:t>
            </a:r>
            <a:r>
              <a:rPr spc="204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estimates</a:t>
            </a:r>
            <a:r>
              <a:rPr spc="114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from</a:t>
            </a:r>
            <a:r>
              <a:rPr spc="17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</a:t>
            </a:r>
            <a:r>
              <a:rPr spc="1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selected</a:t>
            </a:r>
            <a:r>
              <a:rPr spc="19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classifier.</a:t>
            </a:r>
            <a:endParaRPr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3F10579-1988-1C2F-5D0A-583DD9A299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478155"/>
            <a:ext cx="5943600" cy="59016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23694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575" y="228600"/>
            <a:ext cx="1035685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800" spc="-10" dirty="0"/>
              <a:t>Modules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822559"/>
            <a:ext cx="10356850" cy="573105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0664" marR="5080" indent="-228600" algn="l">
              <a:spcBef>
                <a:spcPts val="90"/>
              </a:spcBef>
              <a:buFont typeface="+mj-lt"/>
              <a:buAutoNum type="arabicPeriod"/>
              <a:tabLst>
                <a:tab pos="241300" algn="l"/>
              </a:tabLst>
            </a:pPr>
            <a:r>
              <a:rPr lang="en-US" dirty="0">
                <a:latin typeface="Times New Roman"/>
                <a:cs typeface="Times New Roman"/>
              </a:rPr>
              <a:t>Data Collection Module: Dataset is collected from online news sources containing labeled real and fake articles. This dataset is used for training and testing.</a:t>
            </a:r>
          </a:p>
          <a:p>
            <a:pPr marL="240664" marR="5080" indent="-228600" algn="l">
              <a:spcBef>
                <a:spcPts val="90"/>
              </a:spcBef>
              <a:buFont typeface="+mj-lt"/>
              <a:buAutoNum type="arabicPeriod"/>
              <a:tabLst>
                <a:tab pos="241300" algn="l"/>
              </a:tabLst>
            </a:pPr>
            <a:endParaRPr lang="en-US" dirty="0">
              <a:latin typeface="Times New Roman"/>
              <a:cs typeface="Times New Roman"/>
            </a:endParaRPr>
          </a:p>
          <a:p>
            <a:pPr marL="240664" marR="5080" indent="-228600" algn="l">
              <a:spcBef>
                <a:spcPts val="90"/>
              </a:spcBef>
              <a:buFont typeface="+mj-lt"/>
              <a:buAutoNum type="arabicPeriod"/>
              <a:tabLst>
                <a:tab pos="241300" algn="l"/>
              </a:tabLst>
            </a:pPr>
            <a:r>
              <a:rPr lang="en-US" dirty="0">
                <a:latin typeface="Times New Roman"/>
                <a:cs typeface="Times New Roman"/>
              </a:rPr>
              <a:t>Preprocessing Module: Tokenization of text, removal of stop words and special characters, stemming, and overall data cleaning are performed.</a:t>
            </a:r>
          </a:p>
          <a:p>
            <a:pPr marL="240664" marR="5080" indent="-228600" algn="l">
              <a:spcBef>
                <a:spcPts val="90"/>
              </a:spcBef>
              <a:buFont typeface="+mj-lt"/>
              <a:buAutoNum type="arabicPeriod"/>
              <a:tabLst>
                <a:tab pos="241300" algn="l"/>
              </a:tabLst>
            </a:pPr>
            <a:endParaRPr lang="en-US" dirty="0">
              <a:latin typeface="Times New Roman"/>
              <a:cs typeface="Times New Roman"/>
            </a:endParaRPr>
          </a:p>
          <a:p>
            <a:pPr marL="240664" marR="5080" indent="-228600" algn="l">
              <a:spcBef>
                <a:spcPts val="90"/>
              </a:spcBef>
              <a:buFont typeface="+mj-lt"/>
              <a:buAutoNum type="arabicPeriod"/>
              <a:tabLst>
                <a:tab pos="241300" algn="l"/>
              </a:tabLst>
            </a:pPr>
            <a:r>
              <a:rPr lang="en-US" dirty="0">
                <a:latin typeface="Times New Roman"/>
                <a:cs typeface="Times New Roman"/>
              </a:rPr>
              <a:t>Classification Module: Feature extraction is done using TF-IDF vectorization. Machine learning models are trained to classify news as real or fake.</a:t>
            </a:r>
          </a:p>
          <a:p>
            <a:pPr marL="240664" marR="5080" indent="-228600" algn="l">
              <a:spcBef>
                <a:spcPts val="90"/>
              </a:spcBef>
              <a:buFont typeface="+mj-lt"/>
              <a:buAutoNum type="arabicPeriod"/>
              <a:tabLst>
                <a:tab pos="241300" algn="l"/>
              </a:tabLst>
            </a:pPr>
            <a:endParaRPr lang="en-US" dirty="0">
              <a:latin typeface="Times New Roman"/>
              <a:cs typeface="Times New Roman"/>
            </a:endParaRPr>
          </a:p>
          <a:p>
            <a:pPr marL="240664" marR="5080" indent="-228600" algn="l">
              <a:spcBef>
                <a:spcPts val="90"/>
              </a:spcBef>
              <a:buFont typeface="+mj-lt"/>
              <a:buAutoNum type="arabicPeriod"/>
              <a:tabLst>
                <a:tab pos="241300" algn="l"/>
              </a:tabLst>
            </a:pPr>
            <a:r>
              <a:rPr lang="en-US" dirty="0">
                <a:latin typeface="Times New Roman"/>
                <a:cs typeface="Times New Roman"/>
              </a:rPr>
              <a:t>Training and Prediction: The dataset is loaded using Pandas. Preprocessing is carried out using NLTK. Models such as Naive Bayes and Passive Aggressive classifiers are used for training and prediction.</a:t>
            </a:r>
          </a:p>
          <a:p>
            <a:pPr marL="240664" marR="5080" indent="-228600" algn="l">
              <a:spcBef>
                <a:spcPts val="90"/>
              </a:spcBef>
              <a:buFont typeface="+mj-lt"/>
              <a:buAutoNum type="arabicPeriod"/>
              <a:tabLst>
                <a:tab pos="241300" algn="l"/>
              </a:tabLst>
            </a:pPr>
            <a:endParaRPr lang="en-US" dirty="0">
              <a:latin typeface="Times New Roman"/>
              <a:cs typeface="Times New Roman"/>
            </a:endParaRPr>
          </a:p>
          <a:p>
            <a:pPr marL="240664" marR="5080" indent="-228600" algn="l">
              <a:spcBef>
                <a:spcPts val="90"/>
              </a:spcBef>
              <a:buFont typeface="+mj-lt"/>
              <a:buAutoNum type="arabicPeriod"/>
              <a:tabLst>
                <a:tab pos="241300" algn="l"/>
              </a:tabLst>
            </a:pPr>
            <a:r>
              <a:rPr lang="en-US" dirty="0">
                <a:latin typeface="Times New Roman"/>
                <a:cs typeface="Times New Roman"/>
              </a:rPr>
              <a:t>User Interface: A Flask-based web interface allows users to paste a news article, select a model, and view the prediction result along with a confidence score.</a:t>
            </a:r>
          </a:p>
          <a:p>
            <a:pPr marL="240664" marR="5080" indent="-228600" algn="l">
              <a:spcBef>
                <a:spcPts val="90"/>
              </a:spcBef>
              <a:buFont typeface="+mj-lt"/>
              <a:buAutoNum type="arabicPeriod"/>
              <a:tabLst>
                <a:tab pos="241300" algn="l"/>
              </a:tabLst>
            </a:pPr>
            <a:endParaRPr lang="en-US" dirty="0">
              <a:latin typeface="Times New Roman"/>
              <a:cs typeface="Times New Roman"/>
            </a:endParaRPr>
          </a:p>
          <a:p>
            <a:pPr marL="240664" marR="5080" indent="-228600" algn="l">
              <a:spcBef>
                <a:spcPts val="90"/>
              </a:spcBef>
              <a:buFont typeface="+mj-lt"/>
              <a:buAutoNum type="arabicPeriod"/>
              <a:tabLst>
                <a:tab pos="241300" algn="l"/>
              </a:tabLst>
            </a:pPr>
            <a:r>
              <a:rPr lang="en-US" dirty="0">
                <a:latin typeface="Times New Roman"/>
                <a:cs typeface="Times New Roman"/>
              </a:rPr>
              <a:t>Output: The system displays the prediction as FAKE or REAL along with a percentage confidence score.</a:t>
            </a:r>
          </a:p>
          <a:p>
            <a:pPr marL="240664" marR="5080" indent="-228600" algn="l">
              <a:spcBef>
                <a:spcPts val="90"/>
              </a:spcBef>
              <a:buFont typeface="+mj-lt"/>
              <a:buAutoNum type="arabicPeriod"/>
              <a:tabLst>
                <a:tab pos="241300" algn="l"/>
              </a:tabLst>
            </a:pPr>
            <a:endParaRPr lang="en-US" dirty="0">
              <a:latin typeface="Times New Roman"/>
              <a:cs typeface="Times New Roman"/>
            </a:endParaRPr>
          </a:p>
          <a:p>
            <a:pPr marL="240664" marR="5080" indent="-228600" algn="l">
              <a:spcBef>
                <a:spcPts val="90"/>
              </a:spcBef>
              <a:buFont typeface="+mj-lt"/>
              <a:buAutoNum type="arabicPeriod"/>
              <a:tabLst>
                <a:tab pos="241300" algn="l"/>
              </a:tabLst>
            </a:pPr>
            <a:r>
              <a:rPr lang="en-US" dirty="0">
                <a:latin typeface="Times New Roman"/>
                <a:cs typeface="Times New Roman"/>
              </a:rPr>
              <a:t>Requirements:</a:t>
            </a:r>
          </a:p>
          <a:p>
            <a:pPr marL="12064" marR="5080" algn="l">
              <a:spcBef>
                <a:spcPts val="90"/>
              </a:spcBef>
              <a:tabLst>
                <a:tab pos="241300" algn="l"/>
              </a:tabLst>
            </a:pPr>
            <a:r>
              <a:rPr lang="en-US" dirty="0">
                <a:latin typeface="Times New Roman"/>
                <a:cs typeface="Times New Roman"/>
              </a:rPr>
              <a:t>		Hardware: Minimum 4 GB RAM</a:t>
            </a:r>
          </a:p>
          <a:p>
            <a:pPr marL="12064" marR="5080" algn="l">
              <a:spcBef>
                <a:spcPts val="90"/>
              </a:spcBef>
              <a:tabLst>
                <a:tab pos="241300" algn="l"/>
              </a:tabLst>
            </a:pPr>
            <a:r>
              <a:rPr lang="en-US" dirty="0">
                <a:latin typeface="Times New Roman"/>
                <a:cs typeface="Times New Roman"/>
              </a:rPr>
              <a:t>		Software: Python, Scikit-learn, Pandas, NumPy, NLTK, Flask, Windows/Linux OS</a:t>
            </a:r>
            <a:endParaRPr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Data</a:t>
            </a:r>
            <a:r>
              <a:rPr spc="80" dirty="0"/>
              <a:t> </a:t>
            </a:r>
            <a:r>
              <a:rPr dirty="0"/>
              <a:t>Flow</a:t>
            </a:r>
            <a:r>
              <a:rPr spc="75" dirty="0"/>
              <a:t> </a:t>
            </a:r>
            <a:r>
              <a:rPr spc="-10" dirty="0"/>
              <a:t>Diagram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407223"/>
            <a:ext cx="10206990" cy="41415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spcBef>
                <a:spcPts val="95"/>
              </a:spcBef>
              <a:buSzPct val="97500"/>
              <a:tabLst>
                <a:tab pos="164465" algn="l"/>
                <a:tab pos="887094" algn="l"/>
                <a:tab pos="1256030" algn="l"/>
                <a:tab pos="1625600" algn="l"/>
                <a:tab pos="2447925" algn="l"/>
                <a:tab pos="3393440" algn="l"/>
                <a:tab pos="3804285" algn="l"/>
                <a:tab pos="4961890" algn="l"/>
                <a:tab pos="5696585" algn="l"/>
                <a:tab pos="6572250" algn="l"/>
                <a:tab pos="7575550" algn="l"/>
                <a:tab pos="8185150" algn="l"/>
                <a:tab pos="9046845" algn="l"/>
                <a:tab pos="997839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Step 1 – News dataset is collected from online sources and stored locally as fake_or_real_news.csv.</a:t>
            </a:r>
          </a:p>
          <a:p>
            <a:pPr marL="12700" marR="5080">
              <a:spcBef>
                <a:spcPts val="95"/>
              </a:spcBef>
              <a:buSzPct val="97500"/>
              <a:tabLst>
                <a:tab pos="164465" algn="l"/>
                <a:tab pos="887094" algn="l"/>
                <a:tab pos="1256030" algn="l"/>
                <a:tab pos="1625600" algn="l"/>
                <a:tab pos="2447925" algn="l"/>
                <a:tab pos="3393440" algn="l"/>
                <a:tab pos="3804285" algn="l"/>
                <a:tab pos="4961890" algn="l"/>
                <a:tab pos="5696585" algn="l"/>
                <a:tab pos="6572250" algn="l"/>
                <a:tab pos="7575550" algn="l"/>
                <a:tab pos="8185150" algn="l"/>
                <a:tab pos="9046845" algn="l"/>
                <a:tab pos="9978390" algn="l"/>
              </a:tabLst>
            </a:pPr>
            <a:endParaRPr lang="en-US" sz="2000" dirty="0">
              <a:latin typeface="Times New Roman"/>
              <a:cs typeface="Times New Roman"/>
            </a:endParaRPr>
          </a:p>
          <a:p>
            <a:pPr marL="12700" marR="5080">
              <a:spcBef>
                <a:spcPts val="95"/>
              </a:spcBef>
              <a:buSzPct val="97500"/>
              <a:tabLst>
                <a:tab pos="164465" algn="l"/>
                <a:tab pos="887094" algn="l"/>
                <a:tab pos="1256030" algn="l"/>
                <a:tab pos="1625600" algn="l"/>
                <a:tab pos="2447925" algn="l"/>
                <a:tab pos="3393440" algn="l"/>
                <a:tab pos="3804285" algn="l"/>
                <a:tab pos="4961890" algn="l"/>
                <a:tab pos="5696585" algn="l"/>
                <a:tab pos="6572250" algn="l"/>
                <a:tab pos="7575550" algn="l"/>
                <a:tab pos="8185150" algn="l"/>
                <a:tab pos="9046845" algn="l"/>
                <a:tab pos="997839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Step 2 – Text is cleaned and preprocessed using stop word removal, tokenization, and stemming.</a:t>
            </a:r>
          </a:p>
          <a:p>
            <a:pPr marL="12700" marR="5080">
              <a:spcBef>
                <a:spcPts val="95"/>
              </a:spcBef>
              <a:buSzPct val="97500"/>
              <a:tabLst>
                <a:tab pos="164465" algn="l"/>
                <a:tab pos="887094" algn="l"/>
                <a:tab pos="1256030" algn="l"/>
                <a:tab pos="1625600" algn="l"/>
                <a:tab pos="2447925" algn="l"/>
                <a:tab pos="3393440" algn="l"/>
                <a:tab pos="3804285" algn="l"/>
                <a:tab pos="4961890" algn="l"/>
                <a:tab pos="5696585" algn="l"/>
                <a:tab pos="6572250" algn="l"/>
                <a:tab pos="7575550" algn="l"/>
                <a:tab pos="8185150" algn="l"/>
                <a:tab pos="9046845" algn="l"/>
                <a:tab pos="9978390" algn="l"/>
              </a:tabLst>
            </a:pPr>
            <a:endParaRPr lang="en-US" sz="2000" dirty="0">
              <a:latin typeface="Times New Roman"/>
              <a:cs typeface="Times New Roman"/>
            </a:endParaRPr>
          </a:p>
          <a:p>
            <a:pPr marL="12700" marR="5080">
              <a:spcBef>
                <a:spcPts val="95"/>
              </a:spcBef>
              <a:buSzPct val="97500"/>
              <a:tabLst>
                <a:tab pos="164465" algn="l"/>
                <a:tab pos="887094" algn="l"/>
                <a:tab pos="1256030" algn="l"/>
                <a:tab pos="1625600" algn="l"/>
                <a:tab pos="2447925" algn="l"/>
                <a:tab pos="3393440" algn="l"/>
                <a:tab pos="3804285" algn="l"/>
                <a:tab pos="4961890" algn="l"/>
                <a:tab pos="5696585" algn="l"/>
                <a:tab pos="6572250" algn="l"/>
                <a:tab pos="7575550" algn="l"/>
                <a:tab pos="8185150" algn="l"/>
                <a:tab pos="9046845" algn="l"/>
                <a:tab pos="997839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Step 3 – Machine learning model is trained using TF-IDF features and saved (serialized) as .</a:t>
            </a:r>
            <a:r>
              <a:rPr lang="en-US" sz="2000" dirty="0" err="1">
                <a:latin typeface="Times New Roman"/>
                <a:cs typeface="Times New Roman"/>
              </a:rPr>
              <a:t>pkl</a:t>
            </a:r>
            <a:r>
              <a:rPr lang="en-US" sz="2000" dirty="0">
                <a:latin typeface="Times New Roman"/>
                <a:cs typeface="Times New Roman"/>
              </a:rPr>
              <a:t> files.</a:t>
            </a:r>
          </a:p>
          <a:p>
            <a:pPr marL="12700" marR="5080">
              <a:spcBef>
                <a:spcPts val="95"/>
              </a:spcBef>
              <a:buSzPct val="97500"/>
              <a:tabLst>
                <a:tab pos="164465" algn="l"/>
                <a:tab pos="887094" algn="l"/>
                <a:tab pos="1256030" algn="l"/>
                <a:tab pos="1625600" algn="l"/>
                <a:tab pos="2447925" algn="l"/>
                <a:tab pos="3393440" algn="l"/>
                <a:tab pos="3804285" algn="l"/>
                <a:tab pos="4961890" algn="l"/>
                <a:tab pos="5696585" algn="l"/>
                <a:tab pos="6572250" algn="l"/>
                <a:tab pos="7575550" algn="l"/>
                <a:tab pos="8185150" algn="l"/>
                <a:tab pos="9046845" algn="l"/>
                <a:tab pos="9978390" algn="l"/>
              </a:tabLst>
            </a:pPr>
            <a:endParaRPr lang="en-US" sz="2000" dirty="0">
              <a:latin typeface="Times New Roman"/>
              <a:cs typeface="Times New Roman"/>
            </a:endParaRPr>
          </a:p>
          <a:p>
            <a:pPr marL="12700" marR="5080">
              <a:spcBef>
                <a:spcPts val="95"/>
              </a:spcBef>
              <a:buSzPct val="97500"/>
              <a:tabLst>
                <a:tab pos="164465" algn="l"/>
                <a:tab pos="887094" algn="l"/>
                <a:tab pos="1256030" algn="l"/>
                <a:tab pos="1625600" algn="l"/>
                <a:tab pos="2447925" algn="l"/>
                <a:tab pos="3393440" algn="l"/>
                <a:tab pos="3804285" algn="l"/>
                <a:tab pos="4961890" algn="l"/>
                <a:tab pos="5696585" algn="l"/>
                <a:tab pos="6572250" algn="l"/>
                <a:tab pos="7575550" algn="l"/>
                <a:tab pos="8185150" algn="l"/>
                <a:tab pos="9046845" algn="l"/>
                <a:tab pos="997839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Step 4 – User inputs a news article through the web interface and selects a model.</a:t>
            </a:r>
          </a:p>
          <a:p>
            <a:pPr marL="12700" marR="5080">
              <a:spcBef>
                <a:spcPts val="95"/>
              </a:spcBef>
              <a:buSzPct val="97500"/>
              <a:tabLst>
                <a:tab pos="164465" algn="l"/>
                <a:tab pos="887094" algn="l"/>
                <a:tab pos="1256030" algn="l"/>
                <a:tab pos="1625600" algn="l"/>
                <a:tab pos="2447925" algn="l"/>
                <a:tab pos="3393440" algn="l"/>
                <a:tab pos="3804285" algn="l"/>
                <a:tab pos="4961890" algn="l"/>
                <a:tab pos="5696585" algn="l"/>
                <a:tab pos="6572250" algn="l"/>
                <a:tab pos="7575550" algn="l"/>
                <a:tab pos="8185150" algn="l"/>
                <a:tab pos="9046845" algn="l"/>
                <a:tab pos="9978390" algn="l"/>
              </a:tabLst>
            </a:pPr>
            <a:endParaRPr lang="en-US" sz="2000" dirty="0">
              <a:latin typeface="Times New Roman"/>
              <a:cs typeface="Times New Roman"/>
            </a:endParaRPr>
          </a:p>
          <a:p>
            <a:pPr marL="12700" marR="5080">
              <a:spcBef>
                <a:spcPts val="95"/>
              </a:spcBef>
              <a:buSzPct val="97500"/>
              <a:tabLst>
                <a:tab pos="164465" algn="l"/>
                <a:tab pos="887094" algn="l"/>
                <a:tab pos="1256030" algn="l"/>
                <a:tab pos="1625600" algn="l"/>
                <a:tab pos="2447925" algn="l"/>
                <a:tab pos="3393440" algn="l"/>
                <a:tab pos="3804285" algn="l"/>
                <a:tab pos="4961890" algn="l"/>
                <a:tab pos="5696585" algn="l"/>
                <a:tab pos="6572250" algn="l"/>
                <a:tab pos="7575550" algn="l"/>
                <a:tab pos="8185150" algn="l"/>
                <a:tab pos="9046845" algn="l"/>
                <a:tab pos="997839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Step 5 – System predicts whether the news is FAKE or REAL and calculates the confidence score.</a:t>
            </a:r>
          </a:p>
          <a:p>
            <a:pPr marL="12700" marR="5080">
              <a:spcBef>
                <a:spcPts val="95"/>
              </a:spcBef>
              <a:buSzPct val="97500"/>
              <a:tabLst>
                <a:tab pos="164465" algn="l"/>
                <a:tab pos="887094" algn="l"/>
                <a:tab pos="1256030" algn="l"/>
                <a:tab pos="1625600" algn="l"/>
                <a:tab pos="2447925" algn="l"/>
                <a:tab pos="3393440" algn="l"/>
                <a:tab pos="3804285" algn="l"/>
                <a:tab pos="4961890" algn="l"/>
                <a:tab pos="5696585" algn="l"/>
                <a:tab pos="6572250" algn="l"/>
                <a:tab pos="7575550" algn="l"/>
                <a:tab pos="8185150" algn="l"/>
                <a:tab pos="9046845" algn="l"/>
                <a:tab pos="9978390" algn="l"/>
              </a:tabLst>
            </a:pPr>
            <a:endParaRPr lang="en-US" sz="2000" dirty="0">
              <a:latin typeface="Times New Roman"/>
              <a:cs typeface="Times New Roman"/>
            </a:endParaRPr>
          </a:p>
          <a:p>
            <a:pPr marL="12700" marR="5080">
              <a:spcBef>
                <a:spcPts val="95"/>
              </a:spcBef>
              <a:buSzPct val="97500"/>
              <a:tabLst>
                <a:tab pos="164465" algn="l"/>
                <a:tab pos="887094" algn="l"/>
                <a:tab pos="1256030" algn="l"/>
                <a:tab pos="1625600" algn="l"/>
                <a:tab pos="2447925" algn="l"/>
                <a:tab pos="3393440" algn="l"/>
                <a:tab pos="3804285" algn="l"/>
                <a:tab pos="4961890" algn="l"/>
                <a:tab pos="5696585" algn="l"/>
                <a:tab pos="6572250" algn="l"/>
                <a:tab pos="7575550" algn="l"/>
                <a:tab pos="8185150" algn="l"/>
                <a:tab pos="9046845" algn="l"/>
                <a:tab pos="997839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Step 6 – Output is displayed on the Flask web page with colored results (red for Fake, green for Real) along with the confidence percentage.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961E13-942C-9940-0B43-8523F8705D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9357" y="396240"/>
            <a:ext cx="4693285" cy="6065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dirty="0"/>
              <a:t>Screenshots</a:t>
            </a:r>
            <a:r>
              <a:rPr sz="2800" spc="100" dirty="0"/>
              <a:t> </a:t>
            </a:r>
            <a:r>
              <a:rPr sz="2800" dirty="0"/>
              <a:t>-</a:t>
            </a:r>
            <a:r>
              <a:rPr sz="2800" spc="75" dirty="0"/>
              <a:t> </a:t>
            </a:r>
            <a:r>
              <a:rPr sz="2800" dirty="0"/>
              <a:t>Fake</a:t>
            </a:r>
            <a:r>
              <a:rPr sz="2800" spc="75" dirty="0"/>
              <a:t> </a:t>
            </a:r>
            <a:r>
              <a:rPr sz="2800" dirty="0"/>
              <a:t>News</a:t>
            </a:r>
            <a:r>
              <a:rPr sz="2800" spc="80" dirty="0"/>
              <a:t> </a:t>
            </a:r>
            <a:r>
              <a:rPr sz="2800" spc="-10" dirty="0"/>
              <a:t>Detection</a:t>
            </a:r>
          </a:p>
        </p:txBody>
      </p:sp>
      <p:pic>
        <p:nvPicPr>
          <p:cNvPr id="4" name="Image 68">
            <a:extLst>
              <a:ext uri="{FF2B5EF4-FFF2-40B4-BE49-F238E27FC236}">
                <a16:creationId xmlns:a16="http://schemas.microsoft.com/office/drawing/2014/main" id="{287C0379-A1C9-CBF8-5E84-F01ACA6AC1F5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17574" y="1295400"/>
            <a:ext cx="1058862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72">
            <a:extLst>
              <a:ext uri="{FF2B5EF4-FFF2-40B4-BE49-F238E27FC236}">
                <a16:creationId xmlns:a16="http://schemas.microsoft.com/office/drawing/2014/main" id="{BEDA01B6-6E33-88CE-6FBE-6515EBC7DA49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7200" y="381000"/>
            <a:ext cx="11277600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802999-7259-E84A-DB30-F422AAFBF1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762000"/>
            <a:ext cx="11018746" cy="511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428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77">
            <a:extLst>
              <a:ext uri="{FF2B5EF4-FFF2-40B4-BE49-F238E27FC236}">
                <a16:creationId xmlns:a16="http://schemas.microsoft.com/office/drawing/2014/main" id="{55CD0644-03C3-3079-14E2-FA198D4972A9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800" y="152400"/>
            <a:ext cx="6477000" cy="3200400"/>
          </a:xfrm>
          <a:prstGeom prst="rect">
            <a:avLst/>
          </a:prstGeom>
        </p:spPr>
      </p:pic>
      <p:pic>
        <p:nvPicPr>
          <p:cNvPr id="4" name="Image 76">
            <a:extLst>
              <a:ext uri="{FF2B5EF4-FFF2-40B4-BE49-F238E27FC236}">
                <a16:creationId xmlns:a16="http://schemas.microsoft.com/office/drawing/2014/main" id="{076A3462-CB81-F415-C220-3918FBA2872D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91200" y="3505201"/>
            <a:ext cx="613537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82">
            <a:extLst>
              <a:ext uri="{FF2B5EF4-FFF2-40B4-BE49-F238E27FC236}">
                <a16:creationId xmlns:a16="http://schemas.microsoft.com/office/drawing/2014/main" id="{7201E87C-FF1A-4ACF-7BEC-59C569D2E8A9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562600" y="3657600"/>
            <a:ext cx="6247765" cy="28975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EFC4AA-2470-AC77-1D8E-638C98D9981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02895"/>
            <a:ext cx="6506464" cy="304990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F2B8031-8B6E-36C6-47F2-26A91097F6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55669286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dirty="0"/>
              <a:t>Future</a:t>
            </a:r>
            <a:r>
              <a:rPr sz="2800" spc="110" dirty="0"/>
              <a:t> </a:t>
            </a:r>
            <a:r>
              <a:rPr sz="2800" spc="-20" dirty="0"/>
              <a:t>scope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4" y="1342643"/>
            <a:ext cx="10512425" cy="26672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41300" indent="-228600">
              <a:lnSpc>
                <a:spcPct val="150000"/>
              </a:lnSpc>
              <a:spcBef>
                <a:spcPts val="13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Integrate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deep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learning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models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like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BERT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LSTM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improved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accuracy.</a:t>
            </a:r>
            <a:endParaRPr sz="2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50000"/>
              </a:lnSpc>
              <a:spcBef>
                <a:spcPts val="218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Expand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multilingual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fake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news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detection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wider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coverage.</a:t>
            </a:r>
            <a:endParaRPr sz="2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50000"/>
              </a:lnSpc>
              <a:spcBef>
                <a:spcPts val="226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Develop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browser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extension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real-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news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verification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while</a:t>
            </a:r>
            <a:r>
              <a:rPr sz="2000" spc="-10" dirty="0">
                <a:latin typeface="Times New Roman"/>
                <a:cs typeface="Times New Roman"/>
              </a:rPr>
              <a:t> browsing.</a:t>
            </a:r>
            <a:endParaRPr sz="2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50000"/>
              </a:lnSpc>
              <a:spcBef>
                <a:spcPts val="218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Integrate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source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credibility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analysis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social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media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context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richer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detection.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spc="-10" dirty="0"/>
              <a:t>Conclusion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0" marR="10795" indent="-229235">
              <a:lnSpc>
                <a:spcPct val="150200"/>
              </a:lnSpc>
              <a:spcBef>
                <a:spcPts val="90"/>
              </a:spcBef>
              <a:buFont typeface="Arial MT"/>
              <a:buChar char="•"/>
              <a:tabLst>
                <a:tab pos="254000" algn="l"/>
              </a:tabLst>
            </a:pPr>
            <a:r>
              <a:rPr dirty="0"/>
              <a:t>The</a:t>
            </a:r>
            <a:r>
              <a:rPr spc="165" dirty="0"/>
              <a:t> </a:t>
            </a:r>
            <a:r>
              <a:rPr dirty="0"/>
              <a:t>Fake</a:t>
            </a:r>
            <a:r>
              <a:rPr spc="190" dirty="0"/>
              <a:t> </a:t>
            </a:r>
            <a:r>
              <a:rPr dirty="0"/>
              <a:t>News</a:t>
            </a:r>
            <a:r>
              <a:rPr spc="155" dirty="0"/>
              <a:t> </a:t>
            </a:r>
            <a:r>
              <a:rPr dirty="0"/>
              <a:t>Detector</a:t>
            </a:r>
            <a:r>
              <a:rPr spc="180" dirty="0"/>
              <a:t> </a:t>
            </a:r>
            <a:r>
              <a:rPr dirty="0"/>
              <a:t>successfully</a:t>
            </a:r>
            <a:r>
              <a:rPr spc="180" dirty="0"/>
              <a:t> </a:t>
            </a:r>
            <a:r>
              <a:rPr dirty="0"/>
              <a:t>identifies</a:t>
            </a:r>
            <a:r>
              <a:rPr spc="160" dirty="0"/>
              <a:t> </a:t>
            </a:r>
            <a:r>
              <a:rPr dirty="0"/>
              <a:t>misleading</a:t>
            </a:r>
            <a:r>
              <a:rPr spc="225" dirty="0"/>
              <a:t> </a:t>
            </a:r>
            <a:r>
              <a:rPr dirty="0"/>
              <a:t>and</a:t>
            </a:r>
            <a:r>
              <a:rPr spc="200" dirty="0"/>
              <a:t> </a:t>
            </a:r>
            <a:r>
              <a:rPr dirty="0"/>
              <a:t>false</a:t>
            </a:r>
            <a:r>
              <a:rPr spc="215" dirty="0"/>
              <a:t> </a:t>
            </a:r>
            <a:r>
              <a:rPr dirty="0"/>
              <a:t>information</a:t>
            </a:r>
            <a:r>
              <a:rPr spc="204" dirty="0"/>
              <a:t> </a:t>
            </a:r>
            <a:r>
              <a:rPr dirty="0"/>
              <a:t>using</a:t>
            </a:r>
            <a:r>
              <a:rPr spc="215" dirty="0"/>
              <a:t> </a:t>
            </a:r>
            <a:r>
              <a:rPr spc="-10" dirty="0"/>
              <a:t>machine </a:t>
            </a:r>
            <a:r>
              <a:rPr dirty="0"/>
              <a:t>learning,</a:t>
            </a:r>
            <a:r>
              <a:rPr spc="-25" dirty="0"/>
              <a:t> </a:t>
            </a:r>
            <a:r>
              <a:rPr dirty="0"/>
              <a:t>providing</a:t>
            </a:r>
            <a:r>
              <a:rPr spc="-30" dirty="0"/>
              <a:t> </a:t>
            </a:r>
            <a:r>
              <a:rPr dirty="0"/>
              <a:t>instant</a:t>
            </a:r>
            <a:r>
              <a:rPr spc="-80" dirty="0"/>
              <a:t> </a:t>
            </a:r>
            <a:r>
              <a:rPr dirty="0"/>
              <a:t>Real/Fake</a:t>
            </a:r>
            <a:r>
              <a:rPr spc="-50" dirty="0"/>
              <a:t> </a:t>
            </a:r>
            <a:r>
              <a:rPr dirty="0"/>
              <a:t>classification</a:t>
            </a:r>
            <a:r>
              <a:rPr spc="-45" dirty="0"/>
              <a:t> </a:t>
            </a:r>
            <a:r>
              <a:rPr dirty="0"/>
              <a:t>with</a:t>
            </a:r>
            <a:r>
              <a:rPr spc="-45" dirty="0"/>
              <a:t> </a:t>
            </a:r>
            <a:r>
              <a:rPr dirty="0"/>
              <a:t>confidence</a:t>
            </a:r>
            <a:r>
              <a:rPr spc="-40" dirty="0"/>
              <a:t> </a:t>
            </a:r>
            <a:r>
              <a:rPr spc="-10" dirty="0"/>
              <a:t>scores.</a:t>
            </a:r>
          </a:p>
          <a:p>
            <a:pPr marL="254000" marR="6985" indent="-229235">
              <a:lnSpc>
                <a:spcPct val="150200"/>
              </a:lnSpc>
              <a:spcBef>
                <a:spcPts val="980"/>
              </a:spcBef>
              <a:buFont typeface="Arial MT"/>
              <a:buChar char="•"/>
              <a:tabLst>
                <a:tab pos="254000" algn="l"/>
              </a:tabLst>
            </a:pPr>
            <a:r>
              <a:rPr dirty="0"/>
              <a:t>By</a:t>
            </a:r>
            <a:r>
              <a:rPr spc="420" dirty="0"/>
              <a:t> </a:t>
            </a:r>
            <a:r>
              <a:rPr dirty="0"/>
              <a:t>combining</a:t>
            </a:r>
            <a:r>
              <a:rPr spc="409" dirty="0"/>
              <a:t> </a:t>
            </a:r>
            <a:r>
              <a:rPr dirty="0"/>
              <a:t>NLP</a:t>
            </a:r>
            <a:r>
              <a:rPr spc="335" dirty="0"/>
              <a:t> </a:t>
            </a:r>
            <a:r>
              <a:rPr dirty="0"/>
              <a:t>preprocessing</a:t>
            </a:r>
            <a:r>
              <a:rPr spc="405" dirty="0"/>
              <a:t> </a:t>
            </a:r>
            <a:r>
              <a:rPr dirty="0"/>
              <a:t>with</a:t>
            </a:r>
            <a:r>
              <a:rPr spc="440" dirty="0"/>
              <a:t> </a:t>
            </a:r>
            <a:r>
              <a:rPr spc="-10" dirty="0"/>
              <a:t>TF-</a:t>
            </a:r>
            <a:r>
              <a:rPr dirty="0"/>
              <a:t>IDF</a:t>
            </a:r>
            <a:r>
              <a:rPr spc="450" dirty="0"/>
              <a:t> </a:t>
            </a:r>
            <a:r>
              <a:rPr dirty="0"/>
              <a:t>feature</a:t>
            </a:r>
            <a:r>
              <a:rPr spc="440" dirty="0"/>
              <a:t> </a:t>
            </a:r>
            <a:r>
              <a:rPr dirty="0"/>
              <a:t>extraction</a:t>
            </a:r>
            <a:r>
              <a:rPr spc="430" dirty="0"/>
              <a:t> </a:t>
            </a:r>
            <a:r>
              <a:rPr dirty="0"/>
              <a:t>and</a:t>
            </a:r>
            <a:r>
              <a:rPr spc="450" dirty="0"/>
              <a:t> </a:t>
            </a:r>
            <a:r>
              <a:rPr dirty="0"/>
              <a:t>Naive</a:t>
            </a:r>
            <a:r>
              <a:rPr spc="430" dirty="0"/>
              <a:t> </a:t>
            </a:r>
            <a:r>
              <a:rPr dirty="0"/>
              <a:t>Bayes</a:t>
            </a:r>
            <a:r>
              <a:rPr spc="425" dirty="0"/>
              <a:t> </a:t>
            </a:r>
            <a:r>
              <a:rPr dirty="0"/>
              <a:t>/</a:t>
            </a:r>
            <a:r>
              <a:rPr spc="434" dirty="0"/>
              <a:t> </a:t>
            </a:r>
            <a:r>
              <a:rPr spc="-10" dirty="0"/>
              <a:t>Passive </a:t>
            </a:r>
            <a:r>
              <a:rPr dirty="0"/>
              <a:t>Aggressive</a:t>
            </a:r>
            <a:r>
              <a:rPr spc="-45" dirty="0"/>
              <a:t> </a:t>
            </a:r>
            <a:r>
              <a:rPr dirty="0"/>
              <a:t>classifiers,</a:t>
            </a:r>
            <a:r>
              <a:rPr spc="-30" dirty="0"/>
              <a:t> </a:t>
            </a:r>
            <a:r>
              <a:rPr dirty="0"/>
              <a:t>the</a:t>
            </a:r>
            <a:r>
              <a:rPr spc="-80" dirty="0"/>
              <a:t> </a:t>
            </a:r>
            <a:r>
              <a:rPr dirty="0"/>
              <a:t>system</a:t>
            </a:r>
            <a:r>
              <a:rPr spc="-55" dirty="0"/>
              <a:t> </a:t>
            </a:r>
            <a:r>
              <a:rPr dirty="0"/>
              <a:t>achieves</a:t>
            </a:r>
            <a:r>
              <a:rPr spc="-35" dirty="0"/>
              <a:t> </a:t>
            </a:r>
            <a:r>
              <a:rPr dirty="0"/>
              <a:t>reliable</a:t>
            </a:r>
            <a:r>
              <a:rPr spc="-60" dirty="0"/>
              <a:t> </a:t>
            </a:r>
            <a:r>
              <a:rPr dirty="0"/>
              <a:t>detection</a:t>
            </a:r>
            <a:r>
              <a:rPr spc="-35" dirty="0"/>
              <a:t> </a:t>
            </a:r>
            <a:r>
              <a:rPr spc="-10" dirty="0"/>
              <a:t>performance.</a:t>
            </a:r>
          </a:p>
          <a:p>
            <a:pPr marL="254000" marR="5080" indent="-229235">
              <a:lnSpc>
                <a:spcPct val="150200"/>
              </a:lnSpc>
              <a:spcBef>
                <a:spcPts val="1050"/>
              </a:spcBef>
              <a:buFont typeface="Arial MT"/>
              <a:buChar char="•"/>
              <a:tabLst>
                <a:tab pos="254000" algn="l"/>
              </a:tabLst>
            </a:pPr>
            <a:r>
              <a:rPr dirty="0"/>
              <a:t>This</a:t>
            </a:r>
            <a:r>
              <a:rPr spc="434" dirty="0"/>
              <a:t> </a:t>
            </a:r>
            <a:r>
              <a:rPr dirty="0"/>
              <a:t>tool</a:t>
            </a:r>
            <a:r>
              <a:rPr spc="434" dirty="0"/>
              <a:t> </a:t>
            </a:r>
            <a:r>
              <a:rPr dirty="0"/>
              <a:t>is</a:t>
            </a:r>
            <a:r>
              <a:rPr spc="459" dirty="0"/>
              <a:t> </a:t>
            </a:r>
            <a:r>
              <a:rPr dirty="0"/>
              <a:t>a</a:t>
            </a:r>
            <a:r>
              <a:rPr spc="434" dirty="0"/>
              <a:t> </a:t>
            </a:r>
            <a:r>
              <a:rPr dirty="0"/>
              <a:t>useful</a:t>
            </a:r>
            <a:r>
              <a:rPr spc="409" dirty="0"/>
              <a:t> </a:t>
            </a:r>
            <a:r>
              <a:rPr dirty="0"/>
              <a:t>step</a:t>
            </a:r>
            <a:r>
              <a:rPr spc="395" dirty="0"/>
              <a:t> </a:t>
            </a:r>
            <a:r>
              <a:rPr dirty="0"/>
              <a:t>towards</a:t>
            </a:r>
            <a:r>
              <a:rPr spc="434" dirty="0"/>
              <a:t> </a:t>
            </a:r>
            <a:r>
              <a:rPr dirty="0"/>
              <a:t>combating</a:t>
            </a:r>
            <a:r>
              <a:rPr spc="440" dirty="0"/>
              <a:t> </a:t>
            </a:r>
            <a:r>
              <a:rPr dirty="0"/>
              <a:t>misinformation</a:t>
            </a:r>
            <a:r>
              <a:rPr spc="405" dirty="0"/>
              <a:t> </a:t>
            </a:r>
            <a:r>
              <a:rPr dirty="0"/>
              <a:t>and</a:t>
            </a:r>
            <a:r>
              <a:rPr spc="445" dirty="0"/>
              <a:t> </a:t>
            </a:r>
            <a:r>
              <a:rPr dirty="0"/>
              <a:t>protecting</a:t>
            </a:r>
            <a:r>
              <a:rPr spc="395" dirty="0"/>
              <a:t> </a:t>
            </a:r>
            <a:r>
              <a:rPr dirty="0"/>
              <a:t>public</a:t>
            </a:r>
            <a:r>
              <a:rPr spc="409" dirty="0"/>
              <a:t> </a:t>
            </a:r>
            <a:r>
              <a:rPr spc="-10" dirty="0"/>
              <a:t>discourse, </a:t>
            </a:r>
            <a:r>
              <a:rPr dirty="0"/>
              <a:t>demonstrating</a:t>
            </a:r>
            <a:r>
              <a:rPr spc="-50" dirty="0"/>
              <a:t> </a:t>
            </a:r>
            <a:r>
              <a:rPr dirty="0"/>
              <a:t>that</a:t>
            </a:r>
            <a:r>
              <a:rPr spc="-70" dirty="0"/>
              <a:t> </a:t>
            </a:r>
            <a:r>
              <a:rPr dirty="0"/>
              <a:t>machine</a:t>
            </a:r>
            <a:r>
              <a:rPr spc="-15" dirty="0"/>
              <a:t> </a:t>
            </a:r>
            <a:r>
              <a:rPr dirty="0"/>
              <a:t>learning</a:t>
            </a:r>
            <a:r>
              <a:rPr spc="-50" dirty="0"/>
              <a:t> </a:t>
            </a:r>
            <a:r>
              <a:rPr dirty="0"/>
              <a:t>can</a:t>
            </a:r>
            <a:r>
              <a:rPr spc="-65" dirty="0"/>
              <a:t> </a:t>
            </a:r>
            <a:r>
              <a:rPr dirty="0"/>
              <a:t>be</a:t>
            </a:r>
            <a:r>
              <a:rPr spc="-15" dirty="0"/>
              <a:t> </a:t>
            </a:r>
            <a:r>
              <a:rPr dirty="0"/>
              <a:t>effectively</a:t>
            </a:r>
            <a:r>
              <a:rPr spc="-50" dirty="0"/>
              <a:t> </a:t>
            </a:r>
            <a:r>
              <a:rPr dirty="0"/>
              <a:t>applied</a:t>
            </a:r>
            <a:r>
              <a:rPr spc="-4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spc="-10" dirty="0"/>
              <a:t>real-</a:t>
            </a:r>
            <a:r>
              <a:rPr dirty="0"/>
              <a:t>world</a:t>
            </a:r>
            <a:r>
              <a:rPr spc="-50" dirty="0"/>
              <a:t> </a:t>
            </a:r>
            <a:r>
              <a:rPr dirty="0"/>
              <a:t>social</a:t>
            </a:r>
            <a:r>
              <a:rPr spc="-70" dirty="0"/>
              <a:t> </a:t>
            </a:r>
            <a:r>
              <a:rPr spc="-10" dirty="0"/>
              <a:t>problems.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spc="-10" dirty="0"/>
              <a:t>Reference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965327"/>
            <a:ext cx="10257155" cy="4327525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29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[1]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IEEE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Conference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(2020),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“Automatic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Fake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News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Classification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NLP”, </a:t>
            </a:r>
            <a:r>
              <a:rPr sz="2000" spc="-10" dirty="0">
                <a:latin typeface="Times New Roman"/>
                <a:cs typeface="Times New Roman"/>
              </a:rPr>
              <a:t>Proceedings</a:t>
            </a:r>
            <a:endParaRPr sz="2000" dirty="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205"/>
              </a:spcBef>
            </a:pP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IEEE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ICICT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2020</a:t>
            </a:r>
            <a:endParaRPr sz="2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185"/>
              </a:spcBef>
              <a:buClr>
                <a:srgbClr val="000000"/>
              </a:buClr>
              <a:buFont typeface="Arial MT"/>
              <a:buChar char="•"/>
              <a:tabLst>
                <a:tab pos="241300" algn="l"/>
              </a:tabLst>
            </a:pPr>
            <a:r>
              <a:rPr sz="20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https://ieeexplore.ieee.org/document/9123456</a:t>
            </a:r>
            <a:endParaRPr sz="2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25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[2]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Castillo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al., “Detecting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Fake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News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Social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Media”</a:t>
            </a:r>
            <a:endParaRPr sz="2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180"/>
              </a:spcBef>
              <a:buClr>
                <a:srgbClr val="000000"/>
              </a:buClr>
              <a:buFont typeface="Arial MT"/>
              <a:buChar char="•"/>
              <a:tabLst>
                <a:tab pos="241300" algn="l"/>
              </a:tabLst>
            </a:pPr>
            <a:r>
              <a:rPr sz="20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3"/>
              </a:rPr>
              <a:t>https://doi.org/10.1145/2872427.2883029</a:t>
            </a:r>
            <a:endParaRPr sz="2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18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[3]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Ruchansky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et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al.,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“CSI: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Hybrid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Deep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Model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Fake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News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Detection”</a:t>
            </a:r>
            <a:endParaRPr sz="2000" dirty="0">
              <a:latin typeface="Times New Roman"/>
              <a:cs typeface="Times New Roman"/>
            </a:endParaRPr>
          </a:p>
          <a:p>
            <a:pPr marL="241300" marR="304800" indent="-229235">
              <a:lnSpc>
                <a:spcPct val="150200"/>
              </a:lnSpc>
              <a:spcBef>
                <a:spcPts val="1050"/>
              </a:spcBef>
              <a:buClr>
                <a:srgbClr val="000000"/>
              </a:buClr>
              <a:buFont typeface="Arial MT"/>
              <a:buChar char="•"/>
              <a:tabLst>
                <a:tab pos="241300" algn="l"/>
              </a:tabLst>
            </a:pPr>
            <a:r>
              <a:rPr sz="20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4"/>
              </a:rPr>
              <a:t>https://doi.org/10.1145/3132847.3132877</a:t>
            </a:r>
            <a:r>
              <a:rPr sz="2000" u="sng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sz="20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4"/>
              </a:rPr>
              <a:t>|</a:t>
            </a:r>
            <a:r>
              <a:rPr sz="2000" u="sng" spc="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sz="20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4"/>
              </a:rPr>
              <a:t>Scikit-</a:t>
            </a:r>
            <a:r>
              <a:rPr sz="20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4"/>
              </a:rPr>
              <a:t>learn Documentation:</a:t>
            </a:r>
            <a:r>
              <a:rPr sz="2000" u="sng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sz="20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4"/>
              </a:rPr>
              <a:t>https://scikit-</a:t>
            </a:r>
            <a:r>
              <a:rPr sz="20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4"/>
              </a:rPr>
              <a:t>learn.org</a:t>
            </a:r>
            <a:r>
              <a:rPr sz="20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sng" spc="-5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</a:rPr>
              <a:t>|</a:t>
            </a:r>
            <a:r>
              <a:rPr sz="2000" spc="-50" dirty="0">
                <a:solidFill>
                  <a:srgbClr val="0462C1"/>
                </a:solidFill>
                <a:latin typeface="Times New Roman"/>
                <a:cs typeface="Times New Roman"/>
              </a:rPr>
              <a:t> </a:t>
            </a:r>
            <a:r>
              <a:rPr sz="20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4"/>
              </a:rPr>
              <a:t>Kaggle</a:t>
            </a:r>
            <a:r>
              <a:rPr sz="2000" u="sng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sz="20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4"/>
              </a:rPr>
              <a:t>Fake</a:t>
            </a:r>
            <a:r>
              <a:rPr sz="2000" u="sng" spc="-7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sz="20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4"/>
              </a:rPr>
              <a:t>News</a:t>
            </a:r>
            <a:r>
              <a:rPr sz="2000" u="sng" spc="-4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sz="20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4"/>
              </a:rPr>
              <a:t>Dataset:</a:t>
            </a:r>
            <a:r>
              <a:rPr sz="2000" u="sng" spc="-4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sz="20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4"/>
              </a:rPr>
              <a:t>https://kaggle.com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Words>1199</Words>
  <Application>Microsoft Office PowerPoint</Application>
  <PresentationFormat>Widescreen</PresentationFormat>
  <Paragraphs>121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Arial MT</vt:lpstr>
      <vt:lpstr>Times New Roman</vt:lpstr>
      <vt:lpstr>Wingdings</vt:lpstr>
      <vt:lpstr>Office Theme</vt:lpstr>
      <vt:lpstr>SCMS School of Engineering &amp; Technology</vt:lpstr>
      <vt:lpstr>CONTENTS</vt:lpstr>
      <vt:lpstr>Introduction</vt:lpstr>
      <vt:lpstr>Objectives</vt:lpstr>
      <vt:lpstr>LITERATURE SURVEY</vt:lpstr>
      <vt:lpstr>PowerPoint Presentation</vt:lpstr>
      <vt:lpstr>Existing System</vt:lpstr>
      <vt:lpstr>Proposed System</vt:lpstr>
      <vt:lpstr>Proposed System Architecture</vt:lpstr>
      <vt:lpstr>PowerPoint Presentation</vt:lpstr>
      <vt:lpstr>Modules</vt:lpstr>
      <vt:lpstr>Data Flow Diagram</vt:lpstr>
      <vt:lpstr>PowerPoint Presentation</vt:lpstr>
      <vt:lpstr>Screenshots - Fake News Detection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Future scope</vt:lpstr>
      <vt:lpstr>Conclusion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Balakrishnan U</cp:lastModifiedBy>
  <cp:revision>3</cp:revision>
  <dcterms:created xsi:type="dcterms:W3CDTF">2026-03-30T13:29:58Z</dcterms:created>
  <dcterms:modified xsi:type="dcterms:W3CDTF">2026-03-30T14:27:40Z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2026-03-19T00:00:00Z</vt:filetime>
  </property>
  <property fmtid="{D5CDD505-2E9C-101B-9397-08002B2CF9AE}" pid="3" name="LastSaved">
    <vt:filetime>2026-03-30T00:00:00Z</vt:filetime>
  </property>
</Properties>
</file>